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Roboto Serif"/>
      <p:regular r:id="rId21"/>
      <p:bold r:id="rId22"/>
      <p:italic r:id="rId23"/>
      <p:boldItalic r:id="rId24"/>
    </p:embeddedFont>
    <p:embeddedFont>
      <p:font typeface="Inter"/>
      <p:bold r:id="rId25"/>
      <p:boldItalic r:id="rId26"/>
    </p:embeddedFont>
    <p:embeddedFont>
      <p:font typeface="League Gothic"/>
      <p:regular r:id="rId27"/>
    </p:embeddedFont>
    <p:embeddedFont>
      <p:font typeface="Work Sans"/>
      <p:bold r:id="rId28"/>
      <p:boldItalic r:id="rId29"/>
    </p:embeddedFont>
    <p:embeddedFont>
      <p:font typeface="Beth Ellen"/>
      <p:regular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Serif-bold.fntdata"/><Relationship Id="rId21" Type="http://schemas.openxmlformats.org/officeDocument/2006/relationships/font" Target="fonts/RobotoSerif-regular.fntdata"/><Relationship Id="rId24" Type="http://schemas.openxmlformats.org/officeDocument/2006/relationships/font" Target="fonts/RobotoSerif-boldItalic.fntdata"/><Relationship Id="rId23" Type="http://schemas.openxmlformats.org/officeDocument/2006/relationships/font" Target="fonts/RobotoSerif-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Inter-boldItalic.fntdata"/><Relationship Id="rId25" Type="http://schemas.openxmlformats.org/officeDocument/2006/relationships/font" Target="fonts/Inter-bold.fntdata"/><Relationship Id="rId28" Type="http://schemas.openxmlformats.org/officeDocument/2006/relationships/font" Target="fonts/WorkSans-bold.fntdata"/><Relationship Id="rId27" Type="http://schemas.openxmlformats.org/officeDocument/2006/relationships/font" Target="fonts/LeagueGothic-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WorkSans-bold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BethEllen-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6708db1fd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a6708db1fd_15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6708db1fd_15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Every day, thousands of people step outside with nothing more than a pair of binoculars and curiosity.</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They upload millions of bird sightings—tiny moments in nature—onto the internet.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Individually, each sighting is just a point on a map. But together, they form </a:t>
            </a:r>
            <a:r>
              <a:rPr i="1" lang="en">
                <a:solidFill>
                  <a:schemeClr val="dk1"/>
                </a:solidFill>
              </a:rPr>
              <a:t>stories</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Where rare birds suddenly appear</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How species shift as seasons change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Which states attract the richest biodiversity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What patterns scientists could never see from the ground alone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The problem is: those stories are buried in raw APIs and scattered observations.</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Without a system to collect, structure, and analyze this information, the insights remain hidden.</a:t>
            </a:r>
            <a:endParaRPr>
              <a:solidFill>
                <a:schemeClr val="dk1"/>
              </a:solidFill>
            </a:endParaRPr>
          </a:p>
          <a:p>
            <a:pPr indent="0" lvl="0" marL="0" rtl="0" algn="l">
              <a:lnSpc>
                <a:spcPct val="115000"/>
              </a:lnSpc>
              <a:spcBef>
                <a:spcPts val="1200"/>
              </a:spcBef>
              <a:spcAft>
                <a:spcPts val="0"/>
              </a:spcAft>
              <a:buNone/>
            </a:pPr>
            <a:r>
              <a:t/>
            </a:r>
            <a:endParaRPr sz="1050">
              <a:solidFill>
                <a:srgbClr val="0E0E0E"/>
              </a:solidFill>
            </a:endParaRPr>
          </a:p>
        </p:txBody>
      </p:sp>
      <p:sp>
        <p:nvSpPr>
          <p:cNvPr id="147" name="Google Shape;147;g3a6708db1fd_15_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6708db1fd_9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Our pipeline is implemented with airflow and Docker for easy deployment. This workflow runs automatically on a schedule to reflect the most recent bird observations.</a:t>
            </a:r>
            <a:endParaRPr/>
          </a:p>
          <a:p>
            <a:pPr indent="0" lvl="0" marL="0" rtl="0" algn="l">
              <a:spcBef>
                <a:spcPts val="1200"/>
              </a:spcBef>
              <a:spcAft>
                <a:spcPts val="0"/>
              </a:spcAft>
              <a:buNone/>
            </a:pPr>
            <a:r>
              <a:t/>
            </a:r>
            <a:endParaRPr/>
          </a:p>
        </p:txBody>
      </p:sp>
      <p:sp>
        <p:nvSpPr>
          <p:cNvPr id="168" name="Google Shape;168;g3a6708db1fd_9_2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6708db1fd_3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four stages in our pipeline, in the extracting state, we first get …then get…and get….</a:t>
            </a:r>
            <a:endParaRPr/>
          </a:p>
          <a:p>
            <a:pPr indent="0" lvl="0" marL="0" rtl="0" algn="l">
              <a:spcBef>
                <a:spcPts val="0"/>
              </a:spcBef>
              <a:spcAft>
                <a:spcPts val="0"/>
              </a:spcAft>
              <a:buNone/>
            </a:pPr>
            <a:r>
              <a:rPr lang="en"/>
              <a:t>The </a:t>
            </a:r>
            <a:r>
              <a:rPr lang="en"/>
              <a:t>transforming</a:t>
            </a:r>
            <a:r>
              <a:rPr lang="en"/>
              <a:t> process involve feature selection, mapping, calculating, for more </a:t>
            </a:r>
            <a:r>
              <a:rPr lang="en"/>
              <a:t>information</a:t>
            </a:r>
            <a:r>
              <a:rPr lang="en"/>
              <a:t>, we linked, and lastly</a:t>
            </a:r>
            <a:endParaRPr/>
          </a:p>
          <a:p>
            <a:pPr indent="0" lvl="0" marL="0" rtl="0" algn="l">
              <a:spcBef>
                <a:spcPts val="0"/>
              </a:spcBef>
              <a:spcAft>
                <a:spcPts val="0"/>
              </a:spcAft>
              <a:buNone/>
            </a:pPr>
            <a:r>
              <a:rPr lang="en"/>
              <a:t>In the loading state, we loaded</a:t>
            </a:r>
            <a:endParaRPr/>
          </a:p>
          <a:p>
            <a:pPr indent="0" lvl="0" marL="0" rtl="0" algn="l">
              <a:spcBef>
                <a:spcPts val="0"/>
              </a:spcBef>
              <a:spcAft>
                <a:spcPts val="0"/>
              </a:spcAft>
              <a:buNone/>
            </a:pPr>
            <a:r>
              <a:rPr lang="en"/>
              <a:t>For </a:t>
            </a:r>
            <a:r>
              <a:rPr lang="en"/>
              <a:t>visualization</a:t>
            </a:r>
            <a:r>
              <a:rPr lang="en"/>
              <a:t>, we first, then </a:t>
            </a:r>
            <a:endParaRPr/>
          </a:p>
        </p:txBody>
      </p:sp>
      <p:sp>
        <p:nvSpPr>
          <p:cNvPr id="182" name="Google Shape;182;g3a6708db1fd_3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6708db1fd_9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None/>
            </a:pPr>
            <a:r>
              <a:rPr lang="en" sz="1050">
                <a:solidFill>
                  <a:srgbClr val="0E0E0E"/>
                </a:solidFill>
              </a:rPr>
              <a:t>Our pipeline is designed to serve different bird watcher, the first one is the casual birdwatcher, the interface is designed in a more user friendly way and carries </a:t>
            </a:r>
            <a:r>
              <a:rPr lang="en" sz="1050">
                <a:solidFill>
                  <a:srgbClr val="0E0E0E"/>
                </a:solidFill>
              </a:rPr>
              <a:t>straightforward</a:t>
            </a:r>
            <a:r>
              <a:rPr lang="en" sz="1050">
                <a:solidFill>
                  <a:srgbClr val="0E0E0E"/>
                </a:solidFill>
              </a:rPr>
              <a:t> insight. The user can quickly check local birds by state or </a:t>
            </a:r>
            <a:r>
              <a:rPr lang="en" sz="1050">
                <a:solidFill>
                  <a:srgbClr val="0E0E0E"/>
                </a:solidFill>
              </a:rPr>
              <a:t>species</a:t>
            </a:r>
            <a:r>
              <a:rPr lang="en" sz="1050">
                <a:solidFill>
                  <a:srgbClr val="0E0E0E"/>
                </a:solidFill>
              </a:rPr>
              <a:t> and we provide them with scatterplots of sightings across the U.S and predict key hotspot for bird sight in 7 days for them. For the professionals, they can use our </a:t>
            </a:r>
            <a:r>
              <a:rPr lang="en" sz="1050">
                <a:solidFill>
                  <a:srgbClr val="0E0E0E"/>
                </a:solidFill>
              </a:rPr>
              <a:t>interactive</a:t>
            </a:r>
            <a:r>
              <a:rPr lang="en" sz="1050">
                <a:solidFill>
                  <a:srgbClr val="0E0E0E"/>
                </a:solidFill>
              </a:rPr>
              <a:t> map to conduct complex analysis. The maps allow them to  identify rare or uncommon species in a region, compare state-level density vs national hotspots to for research analysis. </a:t>
            </a:r>
            <a:endParaRPr sz="1050">
              <a:solidFill>
                <a:srgbClr val="0E0E0E"/>
              </a:solidFill>
            </a:endParaRPr>
          </a:p>
          <a:p>
            <a:pPr indent="0" lvl="0" marL="139700" rtl="0" algn="l">
              <a:lnSpc>
                <a:spcPct val="115000"/>
              </a:lnSpc>
              <a:spcBef>
                <a:spcPts val="0"/>
              </a:spcBef>
              <a:spcAft>
                <a:spcPts val="0"/>
              </a:spcAft>
              <a:buNone/>
            </a:pPr>
            <a:r>
              <a:t/>
            </a:r>
            <a:endParaRPr sz="1050">
              <a:solidFill>
                <a:srgbClr val="0E0E0E"/>
              </a:solidFill>
            </a:endParaRPr>
          </a:p>
          <a:p>
            <a:pPr indent="0" lvl="0" marL="139700" rtl="0" algn="l">
              <a:lnSpc>
                <a:spcPct val="115000"/>
              </a:lnSpc>
              <a:spcBef>
                <a:spcPts val="0"/>
              </a:spcBef>
              <a:spcAft>
                <a:spcPts val="0"/>
              </a:spcAft>
              <a:buNone/>
            </a:pPr>
            <a:r>
              <a:t/>
            </a:r>
            <a:endParaRPr sz="1050">
              <a:solidFill>
                <a:srgbClr val="0E0E0E"/>
              </a:solidFill>
            </a:endParaRPr>
          </a:p>
          <a:p>
            <a:pPr indent="0" lvl="0" marL="139700" rtl="0" algn="l">
              <a:lnSpc>
                <a:spcPct val="115000"/>
              </a:lnSpc>
              <a:spcBef>
                <a:spcPts val="0"/>
              </a:spcBef>
              <a:spcAft>
                <a:spcPts val="0"/>
              </a:spcAft>
              <a:buNone/>
            </a:pPr>
            <a:r>
              <a:t/>
            </a:r>
            <a:endParaRPr sz="1050">
              <a:solidFill>
                <a:srgbClr val="0E0E0E"/>
              </a:solidFill>
            </a:endParaRPr>
          </a:p>
          <a:p>
            <a:pPr indent="0" lvl="0" marL="139700" rtl="0" algn="l">
              <a:lnSpc>
                <a:spcPct val="115000"/>
              </a:lnSpc>
              <a:spcBef>
                <a:spcPts val="0"/>
              </a:spcBef>
              <a:spcAft>
                <a:spcPts val="0"/>
              </a:spcAft>
              <a:buNone/>
            </a:pPr>
            <a:r>
              <a:rPr lang="en" sz="1050">
                <a:solidFill>
                  <a:srgbClr val="0E0E0E"/>
                </a:solidFill>
              </a:rPr>
              <a:t>Our pipeline supports two main types of users:</a:t>
            </a:r>
            <a:endParaRPr sz="1050">
              <a:solidFill>
                <a:srgbClr val="0E0E0E"/>
              </a:solidFill>
            </a:endParaRPr>
          </a:p>
          <a:p>
            <a:pPr indent="0" lvl="0" marL="139700" rtl="0" algn="l">
              <a:lnSpc>
                <a:spcPct val="115000"/>
              </a:lnSpc>
              <a:spcBef>
                <a:spcPts val="0"/>
              </a:spcBef>
              <a:spcAft>
                <a:spcPts val="0"/>
              </a:spcAft>
              <a:buNone/>
            </a:pPr>
            <a:r>
              <a:rPr b="1" lang="en" sz="1050">
                <a:solidFill>
                  <a:srgbClr val="0E0E0E"/>
                </a:solidFill>
              </a:rPr>
              <a:t>Casual birdwatchers</a:t>
            </a:r>
            <a:r>
              <a:rPr lang="en" sz="1050">
                <a:solidFill>
                  <a:srgbClr val="0E0E0E"/>
                </a:solidFill>
              </a:rPr>
              <a:t> who want a quick, intuitive way to explore local birds, and </a:t>
            </a:r>
            <a:r>
              <a:rPr b="1" lang="en" sz="1050">
                <a:solidFill>
                  <a:srgbClr val="0E0E0E"/>
                </a:solidFill>
              </a:rPr>
              <a:t>scientists or professional trackers</a:t>
            </a:r>
            <a:r>
              <a:rPr lang="en" sz="1050">
                <a:solidFill>
                  <a:srgbClr val="0E0E0E"/>
                </a:solidFill>
              </a:rPr>
              <a:t> who need complex analytical products for ecological research.</a:t>
            </a:r>
            <a:endParaRPr sz="1050">
              <a:solidFill>
                <a:srgbClr val="0E0E0E"/>
              </a:solidFill>
            </a:endParaRPr>
          </a:p>
          <a:p>
            <a:pPr indent="0" lvl="0" marL="139700" rtl="0" algn="l">
              <a:lnSpc>
                <a:spcPct val="115000"/>
              </a:lnSpc>
              <a:spcBef>
                <a:spcPts val="0"/>
              </a:spcBef>
              <a:spcAft>
                <a:spcPts val="0"/>
              </a:spcAft>
              <a:buNone/>
            </a:pPr>
            <a:r>
              <a:rPr lang="en" sz="1050">
                <a:solidFill>
                  <a:srgbClr val="0E0E0E"/>
                </a:solidFill>
              </a:rPr>
              <a:t>The same underlying data powers both use cases—just tailored for different needs.</a:t>
            </a:r>
            <a:endParaRPr sz="1050">
              <a:solidFill>
                <a:srgbClr val="0E0E0E"/>
              </a:solidFill>
            </a:endParaRPr>
          </a:p>
          <a:p>
            <a:pPr indent="0" lvl="0" marL="0" rtl="0" algn="l">
              <a:lnSpc>
                <a:spcPct val="115000"/>
              </a:lnSpc>
              <a:spcBef>
                <a:spcPts val="1200"/>
              </a:spcBef>
              <a:spcAft>
                <a:spcPts val="0"/>
              </a:spcAft>
              <a:buNone/>
            </a:pPr>
            <a:r>
              <a:t/>
            </a:r>
            <a:endParaRPr/>
          </a:p>
          <a:p>
            <a:pPr indent="0" lvl="0" marL="0" rtl="0" algn="l">
              <a:lnSpc>
                <a:spcPct val="115000"/>
              </a:lnSpc>
              <a:spcBef>
                <a:spcPts val="1400"/>
              </a:spcBef>
              <a:spcAft>
                <a:spcPts val="0"/>
              </a:spcAft>
              <a:buNone/>
            </a:pPr>
            <a:r>
              <a:rPr b="1" lang="en" sz="1300">
                <a:solidFill>
                  <a:schemeClr val="dk1"/>
                </a:solidFill>
              </a:rPr>
              <a:t>Casual Birdwatcher</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main goal for casual birdwatchers is to provide a user-friendly and straightforward experience that allows them to explore birds without needing technical expertise.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They can quickly check which bird species are present in their state or specific area of interest, making birdwatching more engaging and informative.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Interactive scatterplots allow them to visualize recent bird sightings across the U.S., giving a clear sense of where birds are most active.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interface is designed to be intuitive, enabling users to filter, explore, and understand the data without prior experience.</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Professional Ornithologist (means </a:t>
            </a:r>
            <a:r>
              <a:rPr b="1" lang="en">
                <a:solidFill>
                  <a:schemeClr val="dk1"/>
                </a:solidFill>
              </a:rPr>
              <a:t>Scientific Birdwatcher)</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Professional or scientific users require detailed analytical products that can generate actionable ecological insights for research purposes.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They can identify rare or uncommon species in a region and track their appearance patterns over time to support conservation or scientific studies.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pipeline allows comparison of state-level species density against national hotspots, highlighting unusual trends or shifts in bird populations.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Users can generate complex visualizations, such as density maps and analytical reports, to support in-depth ecological research and decision-making.</a:t>
            </a:r>
            <a:br>
              <a:rPr lang="en">
                <a:solidFill>
                  <a:schemeClr val="dk1"/>
                </a:solidFill>
              </a:rPr>
            </a:br>
            <a:endParaRPr/>
          </a:p>
        </p:txBody>
      </p:sp>
      <p:sp>
        <p:nvSpPr>
          <p:cNvPr id="216" name="Google Shape;216;g3a6708db1fd_9_1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a6708db1fd_9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a6708db1fd_9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a6708db1fd_3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a6708db1fd_3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a7830b37e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a7830b37e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a6708db1fd_15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user group: professional orthologist, which means scientific birdwatchers</a:t>
            </a:r>
            <a:endParaRPr/>
          </a:p>
        </p:txBody>
      </p:sp>
      <p:sp>
        <p:nvSpPr>
          <p:cNvPr id="278" name="Google Shape;278;g3a6708db1fd_15_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6708db1fd_9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Among the notable species, I find the one I observed—</a:t>
            </a:r>
            <a:r>
              <a:rPr b="1" lang="en">
                <a:solidFill>
                  <a:schemeClr val="dk1"/>
                </a:solidFill>
              </a:rPr>
              <a:t>Orange-crowned Warbler</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Using this, I generate a </a:t>
            </a:r>
            <a:r>
              <a:rPr b="1" lang="en">
                <a:solidFill>
                  <a:schemeClr val="dk1"/>
                </a:solidFill>
              </a:rPr>
              <a:t>scatterplot map</a:t>
            </a:r>
            <a:r>
              <a:rPr lang="en">
                <a:solidFill>
                  <a:schemeClr val="dk1"/>
                </a:solidFill>
              </a:rPr>
              <a:t> of all its recent observation points, helping me understand its current distribution and potential ecological signals.</a:t>
            </a:r>
            <a:br>
              <a:rPr lang="en">
                <a:solidFill>
                  <a:schemeClr val="dk1"/>
                </a:solidFill>
              </a:rPr>
            </a:br>
            <a:endParaRPr>
              <a:solidFill>
                <a:schemeClr val="dk1"/>
              </a:solidFill>
            </a:endParaRPr>
          </a:p>
          <a:p>
            <a:pPr indent="0" lvl="0" marL="0" rtl="0" algn="l">
              <a:lnSpc>
                <a:spcPct val="139982"/>
              </a:lnSpc>
              <a:spcBef>
                <a:spcPts val="1200"/>
              </a:spcBef>
              <a:spcAft>
                <a:spcPts val="0"/>
              </a:spcAft>
              <a:buClr>
                <a:schemeClr val="dk1"/>
              </a:buClr>
              <a:buFont typeface="Arial"/>
              <a:buNone/>
            </a:pPr>
            <a:r>
              <a:rPr lang="en">
                <a:solidFill>
                  <a:schemeClr val="dk1"/>
                </a:solidFill>
              </a:rPr>
              <a:t> </a:t>
            </a:r>
            <a:endParaRPr sz="700">
              <a:solidFill>
                <a:schemeClr val="dk1"/>
              </a:solidFill>
            </a:endParaRPr>
          </a:p>
          <a:p>
            <a:pPr indent="0" lvl="0" marL="0" rtl="0" algn="l">
              <a:spcBef>
                <a:spcPts val="0"/>
              </a:spcBef>
              <a:spcAft>
                <a:spcPts val="0"/>
              </a:spcAft>
              <a:buNone/>
            </a:pPr>
            <a:r>
              <a:t/>
            </a:r>
            <a:endParaRPr/>
          </a:p>
        </p:txBody>
      </p:sp>
      <p:sp>
        <p:nvSpPr>
          <p:cNvPr id="294" name="Google Shape;294;g3a6708db1fd_9_2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6708db1fd_15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a6708db1fd_15_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a6708db1fd_15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3a6708db1fd_15_1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a6708db1fd_9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3a6708db1fd_9_2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a6708db1fd_15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3a6708db1fd_15_2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2.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31.png"/><Relationship Id="rId5" Type="http://schemas.openxmlformats.org/officeDocument/2006/relationships/image" Target="../media/image24.png"/><Relationship Id="rId6"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9.jp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32.jpg"/><Relationship Id="rId4" Type="http://schemas.openxmlformats.org/officeDocument/2006/relationships/image" Target="../media/image18.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2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1.jpg"/><Relationship Id="rId4" Type="http://schemas.openxmlformats.org/officeDocument/2006/relationships/hyperlink" Target="https://github.com/evelynh037/ebird-data-analysi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0" y="0"/>
            <a:ext cx="1014984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sp>
        <p:nvSpPr>
          <p:cNvPr id="130" name="Google Shape;130;p25"/>
          <p:cNvSpPr/>
          <p:nvPr/>
        </p:nvSpPr>
        <p:spPr>
          <a:xfrm>
            <a:off x="8009911" y="-381360"/>
            <a:ext cx="1902492" cy="1043993"/>
          </a:xfrm>
          <a:custGeom>
            <a:rect b="b" l="l" r="r" t="t"/>
            <a:pathLst>
              <a:path extrusionOk="0" h="2087985" w="3804984">
                <a:moveTo>
                  <a:pt x="0" y="0"/>
                </a:moveTo>
                <a:lnTo>
                  <a:pt x="3804984" y="0"/>
                </a:lnTo>
                <a:lnTo>
                  <a:pt x="3804984" y="2087985"/>
                </a:lnTo>
                <a:lnTo>
                  <a:pt x="0" y="2087985"/>
                </a:lnTo>
                <a:lnTo>
                  <a:pt x="0" y="0"/>
                </a:lnTo>
                <a:close/>
              </a:path>
            </a:pathLst>
          </a:custGeom>
          <a:blipFill rotWithShape="1">
            <a:blip r:embed="rId4">
              <a:alphaModFix/>
            </a:blip>
            <a:stretch>
              <a:fillRect b="0" l="0" r="0" t="0"/>
            </a:stretch>
          </a:blipFill>
          <a:ln>
            <a:noFill/>
          </a:ln>
        </p:spPr>
      </p:sp>
      <p:sp>
        <p:nvSpPr>
          <p:cNvPr id="131" name="Google Shape;131;p25"/>
          <p:cNvSpPr/>
          <p:nvPr/>
        </p:nvSpPr>
        <p:spPr>
          <a:xfrm>
            <a:off x="404214" y="313666"/>
            <a:ext cx="220274" cy="272248"/>
          </a:xfrm>
          <a:custGeom>
            <a:rect b="b" l="l" r="r" t="t"/>
            <a:pathLst>
              <a:path extrusionOk="0" h="544496" w="440547">
                <a:moveTo>
                  <a:pt x="0" y="0"/>
                </a:moveTo>
                <a:lnTo>
                  <a:pt x="440546" y="0"/>
                </a:lnTo>
                <a:lnTo>
                  <a:pt x="440546" y="544496"/>
                </a:lnTo>
                <a:lnTo>
                  <a:pt x="0" y="544496"/>
                </a:lnTo>
                <a:lnTo>
                  <a:pt x="0" y="0"/>
                </a:lnTo>
                <a:close/>
              </a:path>
            </a:pathLst>
          </a:custGeom>
          <a:blipFill rotWithShape="1">
            <a:blip r:embed="rId5">
              <a:alphaModFix/>
            </a:blip>
            <a:stretch>
              <a:fillRect b="0" l="0" r="0" t="0"/>
            </a:stretch>
          </a:blipFill>
          <a:ln>
            <a:noFill/>
          </a:ln>
        </p:spPr>
      </p:sp>
      <p:sp>
        <p:nvSpPr>
          <p:cNvPr id="132" name="Google Shape;132;p25"/>
          <p:cNvSpPr/>
          <p:nvPr/>
        </p:nvSpPr>
        <p:spPr>
          <a:xfrm>
            <a:off x="796425" y="535550"/>
            <a:ext cx="7702194" cy="3953132"/>
          </a:xfrm>
          <a:custGeom>
            <a:rect b="b" l="l" r="r" t="t"/>
            <a:pathLst>
              <a:path extrusionOk="0" h="7286880" w="15102342">
                <a:moveTo>
                  <a:pt x="0" y="0"/>
                </a:moveTo>
                <a:lnTo>
                  <a:pt x="15102342" y="0"/>
                </a:lnTo>
                <a:lnTo>
                  <a:pt x="15102342" y="7286880"/>
                </a:lnTo>
                <a:lnTo>
                  <a:pt x="0" y="7286880"/>
                </a:lnTo>
                <a:lnTo>
                  <a:pt x="0" y="0"/>
                </a:lnTo>
                <a:close/>
              </a:path>
            </a:pathLst>
          </a:custGeom>
          <a:blipFill rotWithShape="1">
            <a:blip r:embed="rId6">
              <a:alphaModFix/>
            </a:blip>
            <a:stretch>
              <a:fillRect b="0" l="0" r="0" t="0"/>
            </a:stretch>
          </a:blipFill>
          <a:ln>
            <a:noFill/>
          </a:ln>
        </p:spPr>
      </p:sp>
      <p:sp>
        <p:nvSpPr>
          <p:cNvPr id="133" name="Google Shape;133;p25"/>
          <p:cNvSpPr/>
          <p:nvPr/>
        </p:nvSpPr>
        <p:spPr>
          <a:xfrm>
            <a:off x="6875750" y="4693298"/>
            <a:ext cx="202216" cy="202216"/>
          </a:xfrm>
          <a:custGeom>
            <a:rect b="b" l="l" r="r" t="t"/>
            <a:pathLst>
              <a:path extrusionOk="0" h="404432" w="404432">
                <a:moveTo>
                  <a:pt x="0" y="0"/>
                </a:moveTo>
                <a:lnTo>
                  <a:pt x="404433" y="0"/>
                </a:lnTo>
                <a:lnTo>
                  <a:pt x="404433" y="404432"/>
                </a:lnTo>
                <a:lnTo>
                  <a:pt x="0" y="404432"/>
                </a:lnTo>
                <a:lnTo>
                  <a:pt x="0" y="0"/>
                </a:lnTo>
                <a:close/>
              </a:path>
            </a:pathLst>
          </a:custGeom>
          <a:blipFill rotWithShape="1">
            <a:blip r:embed="rId7">
              <a:alphaModFix/>
            </a:blip>
            <a:stretch>
              <a:fillRect b="0" l="0" r="0" t="0"/>
            </a:stretch>
          </a:blipFill>
          <a:ln>
            <a:noFill/>
          </a:ln>
        </p:spPr>
      </p:sp>
      <p:grpSp>
        <p:nvGrpSpPr>
          <p:cNvPr id="134" name="Google Shape;134;p25"/>
          <p:cNvGrpSpPr/>
          <p:nvPr/>
        </p:nvGrpSpPr>
        <p:grpSpPr>
          <a:xfrm>
            <a:off x="5426450" y="4694849"/>
            <a:ext cx="3650301" cy="282273"/>
            <a:chOff x="-1" y="0"/>
            <a:chExt cx="986541" cy="161391"/>
          </a:xfrm>
        </p:grpSpPr>
        <p:sp>
          <p:nvSpPr>
            <p:cNvPr id="135" name="Google Shape;135;p25"/>
            <p:cNvSpPr/>
            <p:nvPr/>
          </p:nvSpPr>
          <p:spPr>
            <a:xfrm>
              <a:off x="0" y="0"/>
              <a:ext cx="986540" cy="161391"/>
            </a:xfrm>
            <a:custGeom>
              <a:rect b="b" l="l" r="r" t="t"/>
              <a:pathLst>
                <a:path extrusionOk="0" h="161391" w="986540">
                  <a:moveTo>
                    <a:pt x="0" y="0"/>
                  </a:moveTo>
                  <a:lnTo>
                    <a:pt x="986540" y="0"/>
                  </a:lnTo>
                  <a:lnTo>
                    <a:pt x="986540" y="161391"/>
                  </a:lnTo>
                  <a:lnTo>
                    <a:pt x="0" y="161391"/>
                  </a:lnTo>
                  <a:close/>
                </a:path>
              </a:pathLst>
            </a:custGeom>
            <a:solidFill>
              <a:srgbClr val="000000">
                <a:alpha val="0"/>
              </a:srgbClr>
            </a:solidFill>
            <a:ln cap="sq" cmpd="sng" w="19050">
              <a:solidFill>
                <a:srgbClr val="FFFFFF"/>
              </a:solidFill>
              <a:prstDash val="solid"/>
              <a:miter lim="8000"/>
              <a:headEnd len="sm" w="sm" type="none"/>
              <a:tailEnd len="sm" w="sm" type="none"/>
            </a:ln>
          </p:spPr>
        </p:sp>
        <p:sp>
          <p:nvSpPr>
            <p:cNvPr id="136" name="Google Shape;136;p25"/>
            <p:cNvSpPr txBox="1"/>
            <p:nvPr/>
          </p:nvSpPr>
          <p:spPr>
            <a:xfrm>
              <a:off x="-1" y="25787"/>
              <a:ext cx="986400" cy="87900"/>
            </a:xfrm>
            <a:prstGeom prst="rect">
              <a:avLst/>
            </a:prstGeom>
            <a:noFill/>
            <a:ln>
              <a:noFill/>
            </a:ln>
          </p:spPr>
          <p:txBody>
            <a:bodyPr anchorCtr="0" anchor="ctr" bIns="25400" lIns="25400" spcFirstLastPara="1" rIns="25400" wrap="square" tIns="25400">
              <a:noAutofit/>
            </a:bodyPr>
            <a:lstStyle/>
            <a:p>
              <a:pPr indent="0" lvl="0" marL="0" rtl="0" algn="l">
                <a:lnSpc>
                  <a:spcPct val="140000"/>
                </a:lnSpc>
                <a:spcBef>
                  <a:spcPts val="0"/>
                </a:spcBef>
                <a:spcAft>
                  <a:spcPts val="0"/>
                </a:spcAft>
                <a:buClr>
                  <a:schemeClr val="dk1"/>
                </a:buClr>
                <a:buFont typeface="Arial"/>
                <a:buNone/>
              </a:pPr>
              <a:r>
                <a:rPr b="1" lang="en" sz="1000">
                  <a:solidFill>
                    <a:schemeClr val="lt1"/>
                  </a:solidFill>
                </a:rPr>
                <a:t>Evelyn Huang, Dorrie Ge, Keyu Yan, Xingye (Athena) Chen </a:t>
              </a:r>
              <a:endParaRPr b="1" sz="1000">
                <a:solidFill>
                  <a:schemeClr val="lt1"/>
                </a:solidFill>
              </a:endParaRPr>
            </a:p>
          </p:txBody>
        </p:sp>
      </p:grpSp>
      <p:grpSp>
        <p:nvGrpSpPr>
          <p:cNvPr id="137" name="Google Shape;137;p25"/>
          <p:cNvGrpSpPr/>
          <p:nvPr/>
        </p:nvGrpSpPr>
        <p:grpSpPr>
          <a:xfrm>
            <a:off x="-121180" y="1902737"/>
            <a:ext cx="9901212" cy="1226068"/>
            <a:chOff x="0" y="-47625"/>
            <a:chExt cx="5215556" cy="645843"/>
          </a:xfrm>
        </p:grpSpPr>
        <p:sp>
          <p:nvSpPr>
            <p:cNvPr id="138" name="Google Shape;138;p25"/>
            <p:cNvSpPr/>
            <p:nvPr/>
          </p:nvSpPr>
          <p:spPr>
            <a:xfrm>
              <a:off x="0" y="0"/>
              <a:ext cx="5215556" cy="598218"/>
            </a:xfrm>
            <a:custGeom>
              <a:rect b="b" l="l" r="r" t="t"/>
              <a:pathLst>
                <a:path extrusionOk="0" h="598218" w="5215556">
                  <a:moveTo>
                    <a:pt x="0" y="0"/>
                  </a:moveTo>
                  <a:lnTo>
                    <a:pt x="5215556" y="0"/>
                  </a:lnTo>
                  <a:lnTo>
                    <a:pt x="5215556" y="598218"/>
                  </a:lnTo>
                  <a:lnTo>
                    <a:pt x="0" y="598218"/>
                  </a:lnTo>
                  <a:close/>
                </a:path>
              </a:pathLst>
            </a:custGeom>
            <a:solidFill>
              <a:srgbClr val="1C2102"/>
            </a:solidFill>
            <a:ln>
              <a:noFill/>
            </a:ln>
          </p:spPr>
        </p:sp>
        <p:sp>
          <p:nvSpPr>
            <p:cNvPr id="139" name="Google Shape;139;p25"/>
            <p:cNvSpPr txBox="1"/>
            <p:nvPr/>
          </p:nvSpPr>
          <p:spPr>
            <a:xfrm>
              <a:off x="0" y="-47625"/>
              <a:ext cx="5215556" cy="645843"/>
            </a:xfrm>
            <a:prstGeom prst="rect">
              <a:avLst/>
            </a:prstGeom>
            <a:no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40" name="Google Shape;140;p25"/>
          <p:cNvSpPr txBox="1"/>
          <p:nvPr/>
        </p:nvSpPr>
        <p:spPr>
          <a:xfrm>
            <a:off x="1811115" y="3317525"/>
            <a:ext cx="5510400" cy="560400"/>
          </a:xfrm>
          <a:prstGeom prst="rect">
            <a:avLst/>
          </a:prstGeom>
          <a:noFill/>
          <a:ln>
            <a:noFill/>
          </a:ln>
        </p:spPr>
        <p:txBody>
          <a:bodyPr anchorCtr="0" anchor="t" bIns="0" lIns="0" spcFirstLastPara="1" rIns="0" wrap="square" tIns="0">
            <a:spAutoFit/>
          </a:bodyPr>
          <a:lstStyle/>
          <a:p>
            <a:pPr indent="0" lvl="0" marL="0" marR="0" rtl="0" algn="ctr">
              <a:lnSpc>
                <a:spcPct val="90997"/>
              </a:lnSpc>
              <a:spcBef>
                <a:spcPts val="0"/>
              </a:spcBef>
              <a:spcAft>
                <a:spcPts val="0"/>
              </a:spcAft>
              <a:buNone/>
            </a:pPr>
            <a:r>
              <a:rPr lang="en" sz="4000">
                <a:solidFill>
                  <a:srgbClr val="FFFFFF"/>
                </a:solidFill>
                <a:latin typeface="League Gothic"/>
                <a:ea typeface="League Gothic"/>
                <a:cs typeface="League Gothic"/>
                <a:sym typeface="League Gothic"/>
              </a:rPr>
              <a:t>From the eBird Data Pipeline </a:t>
            </a:r>
            <a:endParaRPr sz="4000"/>
          </a:p>
        </p:txBody>
      </p:sp>
      <p:sp>
        <p:nvSpPr>
          <p:cNvPr id="141" name="Google Shape;141;p25"/>
          <p:cNvSpPr txBox="1"/>
          <p:nvPr/>
        </p:nvSpPr>
        <p:spPr>
          <a:xfrm>
            <a:off x="2078275" y="1009100"/>
            <a:ext cx="5102700" cy="952500"/>
          </a:xfrm>
          <a:prstGeom prst="rect">
            <a:avLst/>
          </a:prstGeom>
          <a:noFill/>
          <a:ln>
            <a:noFill/>
          </a:ln>
        </p:spPr>
        <p:txBody>
          <a:bodyPr anchorCtr="0" anchor="t" bIns="0" lIns="0" spcFirstLastPara="1" rIns="0" wrap="square" tIns="0">
            <a:spAutoFit/>
          </a:bodyPr>
          <a:lstStyle/>
          <a:p>
            <a:pPr indent="0" lvl="0" marL="0" marR="0" rtl="0" algn="ctr">
              <a:lnSpc>
                <a:spcPct val="91005"/>
              </a:lnSpc>
              <a:spcBef>
                <a:spcPts val="0"/>
              </a:spcBef>
              <a:spcAft>
                <a:spcPts val="0"/>
              </a:spcAft>
              <a:buNone/>
            </a:pPr>
            <a:r>
              <a:rPr lang="en" sz="3400">
                <a:solidFill>
                  <a:srgbClr val="FFFFFF"/>
                </a:solidFill>
                <a:latin typeface="Beth Ellen"/>
                <a:ea typeface="Beth Ellen"/>
                <a:cs typeface="Beth Ellen"/>
                <a:sym typeface="Beth Ellen"/>
              </a:rPr>
              <a:t>Hidden Stories in Bird Watching</a:t>
            </a:r>
            <a:endParaRPr sz="700"/>
          </a:p>
        </p:txBody>
      </p:sp>
      <p:sp>
        <p:nvSpPr>
          <p:cNvPr id="142" name="Google Shape;142;p25"/>
          <p:cNvSpPr txBox="1"/>
          <p:nvPr/>
        </p:nvSpPr>
        <p:spPr>
          <a:xfrm>
            <a:off x="1526875" y="1902725"/>
            <a:ext cx="6605100" cy="1414800"/>
          </a:xfrm>
          <a:prstGeom prst="rect">
            <a:avLst/>
          </a:prstGeom>
          <a:noFill/>
          <a:ln>
            <a:noFill/>
          </a:ln>
        </p:spPr>
        <p:txBody>
          <a:bodyPr anchorCtr="0" anchor="t" bIns="0" lIns="0" spcFirstLastPara="1" rIns="0" wrap="square" tIns="0">
            <a:spAutoFit/>
          </a:bodyPr>
          <a:lstStyle/>
          <a:p>
            <a:pPr indent="0" lvl="0" marL="0" marR="0" rtl="0" algn="ctr">
              <a:lnSpc>
                <a:spcPct val="90999"/>
              </a:lnSpc>
              <a:spcBef>
                <a:spcPts val="0"/>
              </a:spcBef>
              <a:spcAft>
                <a:spcPts val="0"/>
              </a:spcAft>
              <a:buNone/>
            </a:pPr>
            <a:r>
              <a:rPr lang="en" sz="10100">
                <a:solidFill>
                  <a:srgbClr val="FFDE59"/>
                </a:solidFill>
                <a:latin typeface="League Gothic"/>
                <a:ea typeface="League Gothic"/>
                <a:cs typeface="League Gothic"/>
                <a:sym typeface="League Gothic"/>
              </a:rPr>
              <a:t>Insights Uncovered</a:t>
            </a:r>
            <a:endParaRPr sz="700"/>
          </a:p>
        </p:txBody>
      </p:sp>
      <p:sp>
        <p:nvSpPr>
          <p:cNvPr id="143" name="Google Shape;143;p25"/>
          <p:cNvSpPr/>
          <p:nvPr/>
        </p:nvSpPr>
        <p:spPr>
          <a:xfrm>
            <a:off x="467192" y="4723717"/>
            <a:ext cx="447123" cy="211825"/>
          </a:xfrm>
          <a:custGeom>
            <a:rect b="b" l="l" r="r" t="t"/>
            <a:pathLst>
              <a:path extrusionOk="0" h="423650" w="894247">
                <a:moveTo>
                  <a:pt x="0" y="0"/>
                </a:moveTo>
                <a:lnTo>
                  <a:pt x="894247" y="0"/>
                </a:lnTo>
                <a:lnTo>
                  <a:pt x="894247" y="423650"/>
                </a:lnTo>
                <a:lnTo>
                  <a:pt x="0" y="423650"/>
                </a:lnTo>
                <a:lnTo>
                  <a:pt x="0" y="0"/>
                </a:lnTo>
                <a:close/>
              </a:path>
            </a:pathLst>
          </a:custGeom>
          <a:blipFill rotWithShape="1">
            <a:blip r:embed="rId8">
              <a:alphaModFix/>
            </a:blip>
            <a:stretch>
              <a:fillRect b="0" l="0" r="0" t="0"/>
            </a:stretch>
          </a:blipFill>
          <a:ln>
            <a:noFill/>
          </a:ln>
        </p:spPr>
      </p:sp>
      <p:sp>
        <p:nvSpPr>
          <p:cNvPr id="144" name="Google Shape;144;p25"/>
          <p:cNvSpPr txBox="1"/>
          <p:nvPr/>
        </p:nvSpPr>
        <p:spPr>
          <a:xfrm>
            <a:off x="717973" y="381651"/>
            <a:ext cx="1125600" cy="1539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lang="en" sz="1000">
                <a:solidFill>
                  <a:srgbClr val="FFFFFF"/>
                </a:solidFill>
              </a:rPr>
              <a:t>Group 4</a:t>
            </a:r>
            <a:endParaRPr sz="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8" name="Shape 148"/>
        <p:cNvGrpSpPr/>
        <p:nvPr/>
      </p:nvGrpSpPr>
      <p:grpSpPr>
        <a:xfrm>
          <a:off x="0" y="0"/>
          <a:ext cx="0" cy="0"/>
          <a:chOff x="0" y="0"/>
          <a:chExt cx="0" cy="0"/>
        </a:xfrm>
      </p:grpSpPr>
      <p:grpSp>
        <p:nvGrpSpPr>
          <p:cNvPr id="149" name="Google Shape;149;p26"/>
          <p:cNvGrpSpPr/>
          <p:nvPr/>
        </p:nvGrpSpPr>
        <p:grpSpPr>
          <a:xfrm>
            <a:off x="6472844" y="-196441"/>
            <a:ext cx="2333578" cy="5392113"/>
            <a:chOff x="0" y="-47625"/>
            <a:chExt cx="2526611" cy="5838147"/>
          </a:xfrm>
        </p:grpSpPr>
        <p:sp>
          <p:nvSpPr>
            <p:cNvPr id="150" name="Google Shape;150;p26"/>
            <p:cNvSpPr/>
            <p:nvPr/>
          </p:nvSpPr>
          <p:spPr>
            <a:xfrm>
              <a:off x="0" y="0"/>
              <a:ext cx="2526611" cy="5790522"/>
            </a:xfrm>
            <a:custGeom>
              <a:rect b="b" l="l" r="r" t="t"/>
              <a:pathLst>
                <a:path extrusionOk="0" h="5790522" w="2526611">
                  <a:moveTo>
                    <a:pt x="0" y="0"/>
                  </a:moveTo>
                  <a:lnTo>
                    <a:pt x="2526611" y="0"/>
                  </a:lnTo>
                  <a:lnTo>
                    <a:pt x="2526611" y="5790522"/>
                  </a:lnTo>
                  <a:lnTo>
                    <a:pt x="0" y="5790522"/>
                  </a:lnTo>
                  <a:close/>
                </a:path>
              </a:pathLst>
            </a:custGeom>
            <a:solidFill>
              <a:srgbClr val="555C05"/>
            </a:solidFill>
            <a:ln>
              <a:noFill/>
            </a:ln>
          </p:spPr>
        </p:sp>
        <p:sp>
          <p:nvSpPr>
            <p:cNvPr id="151" name="Google Shape;151;p26"/>
            <p:cNvSpPr txBox="1"/>
            <p:nvPr/>
          </p:nvSpPr>
          <p:spPr>
            <a:xfrm>
              <a:off x="0" y="-47625"/>
              <a:ext cx="2526600" cy="5838000"/>
            </a:xfrm>
            <a:prstGeom prst="rect">
              <a:avLst/>
            </a:prstGeom>
            <a:no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2" name="Google Shape;152;p26"/>
          <p:cNvSpPr/>
          <p:nvPr/>
        </p:nvSpPr>
        <p:spPr>
          <a:xfrm>
            <a:off x="5960296" y="1031661"/>
            <a:ext cx="3280689" cy="2025826"/>
          </a:xfrm>
          <a:custGeom>
            <a:rect b="b" l="l" r="r" t="t"/>
            <a:pathLst>
              <a:path extrusionOk="0" h="4051651" w="6561378">
                <a:moveTo>
                  <a:pt x="0" y="0"/>
                </a:moveTo>
                <a:lnTo>
                  <a:pt x="6561378" y="0"/>
                </a:lnTo>
                <a:lnTo>
                  <a:pt x="6561378" y="4051650"/>
                </a:lnTo>
                <a:lnTo>
                  <a:pt x="0" y="4051650"/>
                </a:lnTo>
                <a:lnTo>
                  <a:pt x="0" y="0"/>
                </a:lnTo>
                <a:close/>
              </a:path>
            </a:pathLst>
          </a:custGeom>
          <a:blipFill rotWithShape="1">
            <a:blip r:embed="rId3">
              <a:alphaModFix/>
            </a:blip>
            <a:stretch>
              <a:fillRect b="0" l="0" r="0" t="0"/>
            </a:stretch>
          </a:blipFill>
          <a:ln>
            <a:noFill/>
          </a:ln>
        </p:spPr>
      </p:sp>
      <p:grpSp>
        <p:nvGrpSpPr>
          <p:cNvPr id="153" name="Google Shape;153;p26"/>
          <p:cNvGrpSpPr/>
          <p:nvPr/>
        </p:nvGrpSpPr>
        <p:grpSpPr>
          <a:xfrm>
            <a:off x="0" y="-43986"/>
            <a:ext cx="696856" cy="794689"/>
            <a:chOff x="0" y="-47625"/>
            <a:chExt cx="754500" cy="860425"/>
          </a:xfrm>
        </p:grpSpPr>
        <p:sp>
          <p:nvSpPr>
            <p:cNvPr id="154" name="Google Shape;154;p26"/>
            <p:cNvSpPr/>
            <p:nvPr/>
          </p:nvSpPr>
          <p:spPr>
            <a:xfrm>
              <a:off x="0" y="0"/>
              <a:ext cx="754479" cy="812800"/>
            </a:xfrm>
            <a:custGeom>
              <a:rect b="b" l="l" r="r" t="t"/>
              <a:pathLst>
                <a:path extrusionOk="0" h="812800" w="754479">
                  <a:moveTo>
                    <a:pt x="0" y="0"/>
                  </a:moveTo>
                  <a:lnTo>
                    <a:pt x="754479" y="0"/>
                  </a:lnTo>
                  <a:lnTo>
                    <a:pt x="754479" y="812800"/>
                  </a:lnTo>
                  <a:lnTo>
                    <a:pt x="0" y="812800"/>
                  </a:lnTo>
                  <a:close/>
                </a:path>
              </a:pathLst>
            </a:custGeom>
            <a:solidFill>
              <a:srgbClr val="555C05"/>
            </a:solidFill>
            <a:ln>
              <a:noFill/>
            </a:ln>
          </p:spPr>
        </p:sp>
        <p:sp>
          <p:nvSpPr>
            <p:cNvPr id="155" name="Google Shape;155;p26"/>
            <p:cNvSpPr txBox="1"/>
            <p:nvPr/>
          </p:nvSpPr>
          <p:spPr>
            <a:xfrm>
              <a:off x="0" y="-47625"/>
              <a:ext cx="754500" cy="860400"/>
            </a:xfrm>
            <a:prstGeom prst="rect">
              <a:avLst/>
            </a:prstGeom>
            <a:no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6" name="Google Shape;156;p26"/>
          <p:cNvSpPr txBox="1"/>
          <p:nvPr/>
        </p:nvSpPr>
        <p:spPr>
          <a:xfrm>
            <a:off x="207957" y="184800"/>
            <a:ext cx="416100" cy="343800"/>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1" i="0" lang="en" sz="2000" u="none" cap="none" strike="noStrike">
                <a:solidFill>
                  <a:srgbClr val="F4F2F2"/>
                </a:solidFill>
                <a:latin typeface="Arial"/>
                <a:ea typeface="Arial"/>
                <a:cs typeface="Arial"/>
                <a:sym typeface="Arial"/>
              </a:rPr>
              <a:t>02</a:t>
            </a:r>
            <a:endParaRPr sz="700"/>
          </a:p>
        </p:txBody>
      </p:sp>
      <p:sp>
        <p:nvSpPr>
          <p:cNvPr id="157" name="Google Shape;157;p26"/>
          <p:cNvSpPr txBox="1"/>
          <p:nvPr/>
        </p:nvSpPr>
        <p:spPr>
          <a:xfrm>
            <a:off x="0" y="1491707"/>
            <a:ext cx="3280800" cy="24465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368"/>
              </a:spcBef>
              <a:spcAft>
                <a:spcPts val="0"/>
              </a:spcAft>
              <a:buClr>
                <a:schemeClr val="dk1"/>
              </a:buClr>
              <a:buSzPts val="1075"/>
              <a:buFont typeface="Arial"/>
              <a:buNone/>
            </a:pPr>
            <a:r>
              <a:rPr b="1" lang="en" sz="1270">
                <a:solidFill>
                  <a:schemeClr val="dk1"/>
                </a:solidFill>
                <a:latin typeface="Roboto Serif"/>
                <a:ea typeface="Roboto Serif"/>
                <a:cs typeface="Roboto Serif"/>
                <a:sym typeface="Roboto Serif"/>
              </a:rPr>
              <a:t>What is eBird? </a:t>
            </a:r>
            <a:endParaRPr b="1" sz="1270">
              <a:solidFill>
                <a:schemeClr val="dk1"/>
              </a:solidFill>
              <a:latin typeface="Roboto Serif"/>
              <a:ea typeface="Roboto Serif"/>
              <a:cs typeface="Roboto Serif"/>
              <a:sym typeface="Roboto Serif"/>
            </a:endParaRPr>
          </a:p>
          <a:p>
            <a:pPr indent="-291590" lvl="0" marL="446692" rtl="0" algn="l">
              <a:lnSpc>
                <a:spcPct val="115000"/>
              </a:lnSpc>
              <a:spcBef>
                <a:spcPts val="1200"/>
              </a:spcBef>
              <a:spcAft>
                <a:spcPts val="0"/>
              </a:spcAft>
              <a:buClr>
                <a:schemeClr val="dk1"/>
              </a:buClr>
              <a:buSzPts val="1075"/>
              <a:buFont typeface="Roboto Serif"/>
              <a:buChar char="●"/>
            </a:pPr>
            <a:r>
              <a:rPr lang="en" sz="1074">
                <a:solidFill>
                  <a:schemeClr val="dk1"/>
                </a:solidFill>
                <a:latin typeface="Roboto Serif"/>
                <a:ea typeface="Roboto Serif"/>
                <a:cs typeface="Roboto Serif"/>
                <a:sym typeface="Roboto Serif"/>
              </a:rPr>
              <a:t>eBird is a </a:t>
            </a:r>
            <a:r>
              <a:rPr b="1" lang="en" sz="1074">
                <a:solidFill>
                  <a:schemeClr val="dk1"/>
                </a:solidFill>
                <a:latin typeface="Roboto Serif"/>
                <a:ea typeface="Roboto Serif"/>
                <a:cs typeface="Roboto Serif"/>
                <a:sym typeface="Roboto Serif"/>
              </a:rPr>
              <a:t>global, crowdsourced bird-monitoring</a:t>
            </a:r>
            <a:r>
              <a:rPr lang="en" sz="1074">
                <a:solidFill>
                  <a:schemeClr val="dk1"/>
                </a:solidFill>
                <a:latin typeface="Roboto Serif"/>
                <a:ea typeface="Roboto Serif"/>
                <a:cs typeface="Roboto Serif"/>
                <a:sym typeface="Roboto Serif"/>
              </a:rPr>
              <a:t> platform created by the Cornell Lab of Ornithology. It allows </a:t>
            </a:r>
            <a:r>
              <a:rPr b="1" lang="en" sz="1074">
                <a:solidFill>
                  <a:schemeClr val="dk1"/>
                </a:solidFill>
                <a:latin typeface="Roboto Serif"/>
                <a:ea typeface="Roboto Serif"/>
                <a:cs typeface="Roboto Serif"/>
                <a:sym typeface="Roboto Serif"/>
              </a:rPr>
              <a:t>anyone</a:t>
            </a:r>
            <a:r>
              <a:rPr lang="en" sz="1074">
                <a:solidFill>
                  <a:schemeClr val="dk1"/>
                </a:solidFill>
                <a:latin typeface="Roboto Serif"/>
                <a:ea typeface="Roboto Serif"/>
                <a:cs typeface="Roboto Serif"/>
                <a:sym typeface="Roboto Serif"/>
              </a:rPr>
              <a:t>—from beginners to expert birders—to record the birds they see at </a:t>
            </a:r>
            <a:r>
              <a:rPr b="1" lang="en" sz="1074">
                <a:solidFill>
                  <a:schemeClr val="dk1"/>
                </a:solidFill>
                <a:latin typeface="Roboto Serif"/>
                <a:ea typeface="Roboto Serif"/>
                <a:cs typeface="Roboto Serif"/>
                <a:sym typeface="Roboto Serif"/>
              </a:rPr>
              <a:t>any time.</a:t>
            </a:r>
            <a:r>
              <a:rPr lang="en" sz="1074">
                <a:solidFill>
                  <a:schemeClr val="dk1"/>
                </a:solidFill>
                <a:latin typeface="Roboto Serif"/>
                <a:ea typeface="Roboto Serif"/>
                <a:cs typeface="Roboto Serif"/>
                <a:sym typeface="Roboto Serif"/>
              </a:rPr>
              <a:t> Currently, eBird includes over </a:t>
            </a:r>
            <a:r>
              <a:rPr b="1" lang="en" sz="1074">
                <a:solidFill>
                  <a:schemeClr val="dk1"/>
                </a:solidFill>
                <a:latin typeface="Roboto Serif"/>
                <a:ea typeface="Roboto Serif"/>
                <a:cs typeface="Roboto Serif"/>
                <a:sym typeface="Roboto Serif"/>
              </a:rPr>
              <a:t>1 billion</a:t>
            </a:r>
            <a:r>
              <a:rPr lang="en" sz="1074">
                <a:solidFill>
                  <a:schemeClr val="dk1"/>
                </a:solidFill>
                <a:latin typeface="Roboto Serif"/>
                <a:ea typeface="Roboto Serif"/>
                <a:cs typeface="Roboto Serif"/>
                <a:sym typeface="Roboto Serif"/>
              </a:rPr>
              <a:t> global observations contributed by citizen scientists</a:t>
            </a:r>
            <a:endParaRPr sz="1074">
              <a:solidFill>
                <a:schemeClr val="dk1"/>
              </a:solidFill>
              <a:latin typeface="Roboto Serif"/>
              <a:ea typeface="Roboto Serif"/>
              <a:cs typeface="Roboto Serif"/>
              <a:sym typeface="Roboto Serif"/>
            </a:endParaRPr>
          </a:p>
          <a:p>
            <a:pPr indent="-291590" lvl="0" marL="446692" rtl="0" algn="l">
              <a:lnSpc>
                <a:spcPct val="115000"/>
              </a:lnSpc>
              <a:spcBef>
                <a:spcPts val="0"/>
              </a:spcBef>
              <a:spcAft>
                <a:spcPts val="0"/>
              </a:spcAft>
              <a:buClr>
                <a:schemeClr val="dk1"/>
              </a:buClr>
              <a:buSzPts val="1075"/>
              <a:buChar char="●"/>
            </a:pPr>
            <a:r>
              <a:rPr lang="en" sz="1074">
                <a:solidFill>
                  <a:schemeClr val="dk1"/>
                </a:solidFill>
                <a:latin typeface="Roboto Serif"/>
                <a:ea typeface="Roboto Serif"/>
                <a:cs typeface="Roboto Serif"/>
                <a:sym typeface="Roboto Serif"/>
              </a:rPr>
              <a:t>eBird provides </a:t>
            </a:r>
            <a:r>
              <a:rPr b="1" lang="en" sz="1074">
                <a:solidFill>
                  <a:schemeClr val="dk1"/>
                </a:solidFill>
                <a:latin typeface="Roboto Serif"/>
                <a:ea typeface="Roboto Serif"/>
                <a:cs typeface="Roboto Serif"/>
                <a:sym typeface="Roboto Serif"/>
              </a:rPr>
              <a:t>rich, real-time, geospatial</a:t>
            </a:r>
            <a:r>
              <a:rPr lang="en" sz="1074">
                <a:solidFill>
                  <a:schemeClr val="dk1"/>
                </a:solidFill>
                <a:latin typeface="Roboto Serif"/>
                <a:ea typeface="Roboto Serif"/>
                <a:cs typeface="Roboto Serif"/>
                <a:sym typeface="Roboto Serif"/>
              </a:rPr>
              <a:t> species data that is deal for exploring biodiversity patterns </a:t>
            </a:r>
            <a:endParaRPr sz="1270">
              <a:latin typeface="Roboto Serif"/>
              <a:ea typeface="Roboto Serif"/>
              <a:cs typeface="Roboto Serif"/>
              <a:sym typeface="Roboto Serif"/>
            </a:endParaRPr>
          </a:p>
        </p:txBody>
      </p:sp>
      <p:sp>
        <p:nvSpPr>
          <p:cNvPr id="158" name="Google Shape;158;p26"/>
          <p:cNvSpPr/>
          <p:nvPr/>
        </p:nvSpPr>
        <p:spPr>
          <a:xfrm>
            <a:off x="8119927" y="4547291"/>
            <a:ext cx="447124" cy="211825"/>
          </a:xfrm>
          <a:custGeom>
            <a:rect b="b" l="l" r="r" t="t"/>
            <a:pathLst>
              <a:path extrusionOk="0" h="423650" w="894247">
                <a:moveTo>
                  <a:pt x="0" y="0"/>
                </a:moveTo>
                <a:lnTo>
                  <a:pt x="894247" y="0"/>
                </a:lnTo>
                <a:lnTo>
                  <a:pt x="894247" y="423649"/>
                </a:lnTo>
                <a:lnTo>
                  <a:pt x="0" y="423649"/>
                </a:lnTo>
                <a:lnTo>
                  <a:pt x="0" y="0"/>
                </a:lnTo>
                <a:close/>
              </a:path>
            </a:pathLst>
          </a:custGeom>
          <a:blipFill rotWithShape="1">
            <a:blip r:embed="rId4">
              <a:alphaModFix/>
            </a:blip>
            <a:stretch>
              <a:fillRect b="0" l="0" r="0" t="0"/>
            </a:stretch>
          </a:blipFill>
          <a:ln>
            <a:noFill/>
          </a:ln>
        </p:spPr>
      </p:sp>
      <p:sp>
        <p:nvSpPr>
          <p:cNvPr id="159" name="Google Shape;159;p26"/>
          <p:cNvSpPr/>
          <p:nvPr/>
        </p:nvSpPr>
        <p:spPr>
          <a:xfrm>
            <a:off x="8047182" y="4573252"/>
            <a:ext cx="447124" cy="211825"/>
          </a:xfrm>
          <a:custGeom>
            <a:rect b="b" l="l" r="r" t="t"/>
            <a:pathLst>
              <a:path extrusionOk="0" h="423650" w="894247">
                <a:moveTo>
                  <a:pt x="0" y="0"/>
                </a:moveTo>
                <a:lnTo>
                  <a:pt x="894247" y="0"/>
                </a:lnTo>
                <a:lnTo>
                  <a:pt x="894247" y="423649"/>
                </a:lnTo>
                <a:lnTo>
                  <a:pt x="0" y="423649"/>
                </a:lnTo>
                <a:lnTo>
                  <a:pt x="0" y="0"/>
                </a:lnTo>
                <a:close/>
              </a:path>
            </a:pathLst>
          </a:custGeom>
          <a:blipFill rotWithShape="1">
            <a:blip r:embed="rId5">
              <a:alphaModFix/>
            </a:blip>
            <a:stretch>
              <a:fillRect b="0" l="0" r="0" t="0"/>
            </a:stretch>
          </a:blipFill>
          <a:ln>
            <a:noFill/>
          </a:ln>
        </p:spPr>
      </p:sp>
      <p:sp>
        <p:nvSpPr>
          <p:cNvPr id="160" name="Google Shape;160;p26"/>
          <p:cNvSpPr txBox="1"/>
          <p:nvPr/>
        </p:nvSpPr>
        <p:spPr>
          <a:xfrm>
            <a:off x="948304" y="84792"/>
            <a:ext cx="1939500" cy="1431600"/>
          </a:xfrm>
          <a:prstGeom prst="rect">
            <a:avLst/>
          </a:prstGeom>
          <a:noFill/>
          <a:ln>
            <a:noFill/>
          </a:ln>
        </p:spPr>
        <p:txBody>
          <a:bodyPr anchorCtr="0" anchor="t" bIns="0" lIns="0" spcFirstLastPara="1" rIns="0" wrap="square" tIns="0">
            <a:spAutoFit/>
          </a:bodyPr>
          <a:lstStyle/>
          <a:p>
            <a:pPr indent="0" lvl="0" marL="0" marR="0" rtl="0" algn="l">
              <a:lnSpc>
                <a:spcPct val="139998"/>
              </a:lnSpc>
              <a:spcBef>
                <a:spcPts val="0"/>
              </a:spcBef>
              <a:spcAft>
                <a:spcPts val="0"/>
              </a:spcAft>
              <a:buNone/>
            </a:pPr>
            <a:r>
              <a:rPr b="0" i="0" lang="en" sz="9300" u="none" cap="none" strike="noStrike">
                <a:solidFill>
                  <a:srgbClr val="555C05"/>
                </a:solidFill>
                <a:latin typeface="League Gothic"/>
                <a:ea typeface="League Gothic"/>
                <a:cs typeface="League Gothic"/>
                <a:sym typeface="League Gothic"/>
              </a:rPr>
              <a:t>INTRO</a:t>
            </a:r>
            <a:endParaRPr sz="700"/>
          </a:p>
        </p:txBody>
      </p:sp>
      <p:sp>
        <p:nvSpPr>
          <p:cNvPr id="161" name="Google Shape;161;p26"/>
          <p:cNvSpPr txBox="1"/>
          <p:nvPr/>
        </p:nvSpPr>
        <p:spPr>
          <a:xfrm>
            <a:off x="2864784" y="84792"/>
            <a:ext cx="3569100" cy="1431600"/>
          </a:xfrm>
          <a:prstGeom prst="rect">
            <a:avLst/>
          </a:prstGeom>
          <a:noFill/>
          <a:ln>
            <a:noFill/>
          </a:ln>
        </p:spPr>
        <p:txBody>
          <a:bodyPr anchorCtr="0" anchor="t" bIns="0" lIns="0" spcFirstLastPara="1" rIns="0" wrap="square" tIns="0">
            <a:spAutoFit/>
          </a:bodyPr>
          <a:lstStyle/>
          <a:p>
            <a:pPr indent="0" lvl="0" marL="0" marR="0" rtl="0" algn="l">
              <a:lnSpc>
                <a:spcPct val="139998"/>
              </a:lnSpc>
              <a:spcBef>
                <a:spcPts val="0"/>
              </a:spcBef>
              <a:spcAft>
                <a:spcPts val="0"/>
              </a:spcAft>
              <a:buNone/>
            </a:pPr>
            <a:r>
              <a:rPr b="0" i="0" lang="en" sz="9300" u="none" cap="none" strike="noStrike">
                <a:solidFill>
                  <a:srgbClr val="555C05"/>
                </a:solidFill>
                <a:latin typeface="League Gothic"/>
                <a:ea typeface="League Gothic"/>
                <a:cs typeface="League Gothic"/>
                <a:sym typeface="League Gothic"/>
              </a:rPr>
              <a:t>DUCTION</a:t>
            </a:r>
            <a:endParaRPr sz="700"/>
          </a:p>
        </p:txBody>
      </p:sp>
      <p:sp>
        <p:nvSpPr>
          <p:cNvPr id="162" name="Google Shape;162;p26"/>
          <p:cNvSpPr/>
          <p:nvPr/>
        </p:nvSpPr>
        <p:spPr>
          <a:xfrm>
            <a:off x="6433867" y="583595"/>
            <a:ext cx="786604" cy="485728"/>
          </a:xfrm>
          <a:custGeom>
            <a:rect b="b" l="l" r="r" t="t"/>
            <a:pathLst>
              <a:path extrusionOk="0" h="971456" w="1573208">
                <a:moveTo>
                  <a:pt x="0" y="0"/>
                </a:moveTo>
                <a:lnTo>
                  <a:pt x="1573208" y="0"/>
                </a:lnTo>
                <a:lnTo>
                  <a:pt x="1573208" y="971456"/>
                </a:lnTo>
                <a:lnTo>
                  <a:pt x="0" y="971456"/>
                </a:lnTo>
                <a:lnTo>
                  <a:pt x="0" y="0"/>
                </a:lnTo>
                <a:close/>
              </a:path>
            </a:pathLst>
          </a:custGeom>
          <a:blipFill rotWithShape="1">
            <a:blip r:embed="rId3">
              <a:alphaModFix/>
            </a:blip>
            <a:stretch>
              <a:fillRect b="0" l="0" r="0" t="0"/>
            </a:stretch>
          </a:blipFill>
          <a:ln>
            <a:noFill/>
          </a:ln>
        </p:spPr>
      </p:sp>
      <p:sp>
        <p:nvSpPr>
          <p:cNvPr id="163" name="Google Shape;163;p26"/>
          <p:cNvSpPr/>
          <p:nvPr/>
        </p:nvSpPr>
        <p:spPr>
          <a:xfrm>
            <a:off x="7950185" y="2398850"/>
            <a:ext cx="786604" cy="485728"/>
          </a:xfrm>
          <a:custGeom>
            <a:rect b="b" l="l" r="r" t="t"/>
            <a:pathLst>
              <a:path extrusionOk="0" h="971456" w="1573208">
                <a:moveTo>
                  <a:pt x="0" y="0"/>
                </a:moveTo>
                <a:lnTo>
                  <a:pt x="1573209" y="0"/>
                </a:lnTo>
                <a:lnTo>
                  <a:pt x="1573209" y="971456"/>
                </a:lnTo>
                <a:lnTo>
                  <a:pt x="0" y="971456"/>
                </a:lnTo>
                <a:lnTo>
                  <a:pt x="0" y="0"/>
                </a:lnTo>
                <a:close/>
              </a:path>
            </a:pathLst>
          </a:custGeom>
          <a:blipFill rotWithShape="1">
            <a:blip r:embed="rId3">
              <a:alphaModFix/>
            </a:blip>
            <a:stretch>
              <a:fillRect b="0" l="0" r="0" t="0"/>
            </a:stretch>
          </a:blipFill>
          <a:ln>
            <a:noFill/>
          </a:ln>
        </p:spPr>
      </p:sp>
      <p:sp>
        <p:nvSpPr>
          <p:cNvPr id="164" name="Google Shape;164;p26"/>
          <p:cNvSpPr txBox="1"/>
          <p:nvPr/>
        </p:nvSpPr>
        <p:spPr>
          <a:xfrm>
            <a:off x="3076374" y="1498307"/>
            <a:ext cx="3370500" cy="2433300"/>
          </a:xfrm>
          <a:prstGeom prst="rect">
            <a:avLst/>
          </a:prstGeom>
          <a:noFill/>
          <a:ln>
            <a:noFill/>
          </a:ln>
        </p:spPr>
        <p:txBody>
          <a:bodyPr anchorCtr="0" anchor="t" bIns="89325" lIns="89325" spcFirstLastPara="1" rIns="89325" wrap="square" tIns="89325">
            <a:spAutoFit/>
          </a:bodyPr>
          <a:lstStyle/>
          <a:p>
            <a:pPr indent="0" lvl="0" marL="0" rtl="0" algn="ctr">
              <a:lnSpc>
                <a:spcPct val="115000"/>
              </a:lnSpc>
              <a:spcBef>
                <a:spcPts val="1368"/>
              </a:spcBef>
              <a:spcAft>
                <a:spcPts val="0"/>
              </a:spcAft>
              <a:buNone/>
            </a:pPr>
            <a:r>
              <a:rPr b="1" lang="en" sz="1270">
                <a:solidFill>
                  <a:schemeClr val="dk1"/>
                </a:solidFill>
                <a:latin typeface="Roboto Serif"/>
                <a:ea typeface="Roboto Serif"/>
                <a:cs typeface="Roboto Serif"/>
                <a:sym typeface="Roboto Serif"/>
              </a:rPr>
              <a:t>Why This Project Matters</a:t>
            </a:r>
            <a:endParaRPr b="1" sz="1270">
              <a:solidFill>
                <a:schemeClr val="dk1"/>
              </a:solidFill>
              <a:latin typeface="Roboto Serif"/>
              <a:ea typeface="Roboto Serif"/>
              <a:cs typeface="Roboto Serif"/>
              <a:sym typeface="Roboto Serif"/>
            </a:endParaRPr>
          </a:p>
          <a:p>
            <a:pPr indent="-291590" lvl="0" marL="446692" rtl="0" algn="l">
              <a:lnSpc>
                <a:spcPct val="115000"/>
              </a:lnSpc>
              <a:spcBef>
                <a:spcPts val="1172"/>
              </a:spcBef>
              <a:spcAft>
                <a:spcPts val="0"/>
              </a:spcAft>
              <a:buClr>
                <a:schemeClr val="dk1"/>
              </a:buClr>
              <a:buSzPts val="1075"/>
              <a:buFont typeface="Roboto Serif"/>
              <a:buChar char="●"/>
            </a:pPr>
            <a:r>
              <a:rPr lang="en" sz="1074">
                <a:solidFill>
                  <a:schemeClr val="dk1"/>
                </a:solidFill>
                <a:latin typeface="Roboto Serif"/>
                <a:ea typeface="Roboto Serif"/>
                <a:cs typeface="Roboto Serif"/>
                <a:sym typeface="Roboto Serif"/>
              </a:rPr>
              <a:t>Raw observations are scattered across API endpoints</a:t>
            </a:r>
            <a:endParaRPr sz="1074">
              <a:solidFill>
                <a:schemeClr val="dk1"/>
              </a:solidFill>
              <a:latin typeface="Roboto Serif"/>
              <a:ea typeface="Roboto Serif"/>
              <a:cs typeface="Roboto Serif"/>
              <a:sym typeface="Roboto Serif"/>
            </a:endParaRPr>
          </a:p>
          <a:p>
            <a:pPr indent="-291590" lvl="0" marL="446692" rtl="0" algn="l">
              <a:lnSpc>
                <a:spcPct val="115000"/>
              </a:lnSpc>
              <a:spcBef>
                <a:spcPts val="0"/>
              </a:spcBef>
              <a:spcAft>
                <a:spcPts val="0"/>
              </a:spcAft>
              <a:buClr>
                <a:schemeClr val="dk1"/>
              </a:buClr>
              <a:buSzPts val="1075"/>
              <a:buChar char="●"/>
            </a:pPr>
            <a:r>
              <a:rPr lang="en" sz="1074">
                <a:solidFill>
                  <a:schemeClr val="dk1"/>
                </a:solidFill>
                <a:latin typeface="Roboto Serif"/>
                <a:ea typeface="Roboto Serif"/>
                <a:cs typeface="Roboto Serif"/>
                <a:sym typeface="Roboto Serif"/>
              </a:rPr>
              <a:t>Insights require a </a:t>
            </a:r>
            <a:r>
              <a:rPr b="1" lang="en" sz="1074">
                <a:solidFill>
                  <a:schemeClr val="dk1"/>
                </a:solidFill>
                <a:latin typeface="Roboto Serif"/>
                <a:ea typeface="Roboto Serif"/>
                <a:cs typeface="Roboto Serif"/>
                <a:sym typeface="Roboto Serif"/>
              </a:rPr>
              <a:t>reliable, scalable data pipeline</a:t>
            </a:r>
            <a:endParaRPr b="1" sz="1074">
              <a:solidFill>
                <a:schemeClr val="dk1"/>
              </a:solidFill>
              <a:latin typeface="Roboto Serif"/>
              <a:ea typeface="Roboto Serif"/>
              <a:cs typeface="Roboto Serif"/>
              <a:sym typeface="Roboto Serif"/>
            </a:endParaRPr>
          </a:p>
          <a:p>
            <a:pPr indent="-291590" lvl="0" marL="446692" rtl="0" algn="l">
              <a:lnSpc>
                <a:spcPct val="115000"/>
              </a:lnSpc>
              <a:spcBef>
                <a:spcPts val="0"/>
              </a:spcBef>
              <a:spcAft>
                <a:spcPts val="0"/>
              </a:spcAft>
              <a:buClr>
                <a:schemeClr val="dk1"/>
              </a:buClr>
              <a:buSzPts val="1075"/>
              <a:buFont typeface="Roboto Serif"/>
              <a:buChar char="●"/>
            </a:pPr>
            <a:r>
              <a:rPr lang="en" sz="1074">
                <a:solidFill>
                  <a:schemeClr val="dk1"/>
                </a:solidFill>
                <a:latin typeface="Roboto Serif"/>
                <a:ea typeface="Roboto Serif"/>
                <a:cs typeface="Roboto Serif"/>
                <a:sym typeface="Roboto Serif"/>
              </a:rPr>
              <a:t>Turning raw data into stories reveals:</a:t>
            </a:r>
            <a:endParaRPr sz="1074">
              <a:solidFill>
                <a:schemeClr val="dk1"/>
              </a:solidFill>
              <a:latin typeface="Roboto Serif"/>
              <a:ea typeface="Roboto Serif"/>
              <a:cs typeface="Roboto Serif"/>
              <a:sym typeface="Roboto Serif"/>
            </a:endParaRPr>
          </a:p>
          <a:p>
            <a:pPr indent="-291590" lvl="1" marL="893384" rtl="0" algn="l">
              <a:lnSpc>
                <a:spcPct val="115000"/>
              </a:lnSpc>
              <a:spcBef>
                <a:spcPts val="0"/>
              </a:spcBef>
              <a:spcAft>
                <a:spcPts val="0"/>
              </a:spcAft>
              <a:buClr>
                <a:schemeClr val="dk1"/>
              </a:buClr>
              <a:buSzPts val="1075"/>
              <a:buFont typeface="Roboto Serif"/>
              <a:buChar char="○"/>
            </a:pPr>
            <a:r>
              <a:rPr lang="en" sz="1074">
                <a:solidFill>
                  <a:schemeClr val="dk1"/>
                </a:solidFill>
                <a:latin typeface="Roboto Serif"/>
                <a:ea typeface="Roboto Serif"/>
                <a:cs typeface="Roboto Serif"/>
                <a:sym typeface="Roboto Serif"/>
              </a:rPr>
              <a:t>Rare species movements</a:t>
            </a:r>
            <a:endParaRPr sz="1074">
              <a:solidFill>
                <a:schemeClr val="dk1"/>
              </a:solidFill>
              <a:latin typeface="Roboto Serif"/>
              <a:ea typeface="Roboto Serif"/>
              <a:cs typeface="Roboto Serif"/>
              <a:sym typeface="Roboto Serif"/>
            </a:endParaRPr>
          </a:p>
          <a:p>
            <a:pPr indent="-291590" lvl="1" marL="893384" rtl="0" algn="l">
              <a:lnSpc>
                <a:spcPct val="115000"/>
              </a:lnSpc>
              <a:spcBef>
                <a:spcPts val="0"/>
              </a:spcBef>
              <a:spcAft>
                <a:spcPts val="0"/>
              </a:spcAft>
              <a:buClr>
                <a:schemeClr val="dk1"/>
              </a:buClr>
              <a:buSzPts val="1075"/>
              <a:buFont typeface="Roboto Serif"/>
              <a:buChar char="○"/>
            </a:pPr>
            <a:r>
              <a:rPr lang="en" sz="1074">
                <a:solidFill>
                  <a:schemeClr val="dk1"/>
                </a:solidFill>
                <a:latin typeface="Roboto Serif"/>
                <a:ea typeface="Roboto Serif"/>
                <a:cs typeface="Roboto Serif"/>
                <a:sym typeface="Roboto Serif"/>
              </a:rPr>
              <a:t>State-level biodiversity differences</a:t>
            </a:r>
            <a:endParaRPr sz="1074">
              <a:solidFill>
                <a:schemeClr val="dk1"/>
              </a:solidFill>
              <a:latin typeface="Roboto Serif"/>
              <a:ea typeface="Roboto Serif"/>
              <a:cs typeface="Roboto Serif"/>
              <a:sym typeface="Roboto Serif"/>
            </a:endParaRPr>
          </a:p>
          <a:p>
            <a:pPr indent="-291590" lvl="1" marL="893384" rtl="0" algn="l">
              <a:lnSpc>
                <a:spcPct val="115000"/>
              </a:lnSpc>
              <a:spcBef>
                <a:spcPts val="0"/>
              </a:spcBef>
              <a:spcAft>
                <a:spcPts val="0"/>
              </a:spcAft>
              <a:buClr>
                <a:schemeClr val="dk1"/>
              </a:buClr>
              <a:buSzPts val="1075"/>
              <a:buFont typeface="Roboto Serif"/>
              <a:buChar char="○"/>
            </a:pPr>
            <a:r>
              <a:rPr lang="en" sz="1074">
                <a:solidFill>
                  <a:schemeClr val="dk1"/>
                </a:solidFill>
                <a:latin typeface="Roboto Serif"/>
                <a:ea typeface="Roboto Serif"/>
                <a:cs typeface="Roboto Serif"/>
                <a:sym typeface="Roboto Serif"/>
              </a:rPr>
              <a:t>Hotspot concentration patterns</a:t>
            </a:r>
            <a:endParaRPr sz="1074">
              <a:solidFill>
                <a:schemeClr val="dk1"/>
              </a:solidFill>
              <a:latin typeface="Roboto Serif"/>
              <a:ea typeface="Roboto Serif"/>
              <a:cs typeface="Roboto Serif"/>
              <a:sym typeface="Roboto Serif"/>
            </a:endParaRPr>
          </a:p>
          <a:p>
            <a:pPr indent="-291590" lvl="1" marL="893384" rtl="0" algn="l">
              <a:lnSpc>
                <a:spcPct val="115000"/>
              </a:lnSpc>
              <a:spcBef>
                <a:spcPts val="0"/>
              </a:spcBef>
              <a:spcAft>
                <a:spcPts val="0"/>
              </a:spcAft>
              <a:buClr>
                <a:schemeClr val="dk1"/>
              </a:buClr>
              <a:buSzPts val="1075"/>
              <a:buChar char="○"/>
            </a:pPr>
            <a:r>
              <a:rPr lang="en" sz="1074">
                <a:solidFill>
                  <a:schemeClr val="dk1"/>
                </a:solidFill>
                <a:latin typeface="Roboto Serif"/>
                <a:ea typeface="Roboto Serif"/>
                <a:cs typeface="Roboto Serif"/>
                <a:sym typeface="Roboto Serif"/>
              </a:rPr>
              <a:t>Seasonal shifts in bird presence</a:t>
            </a:r>
            <a:endParaRPr sz="1074">
              <a:solidFill>
                <a:schemeClr val="dk1"/>
              </a:solidFill>
              <a:latin typeface="Roboto Serif"/>
              <a:ea typeface="Roboto Serif"/>
              <a:cs typeface="Roboto Serif"/>
              <a:sym typeface="Roboto Serif"/>
            </a:endParaRPr>
          </a:p>
        </p:txBody>
      </p:sp>
      <p:sp>
        <p:nvSpPr>
          <p:cNvPr id="165" name="Google Shape;165;p26"/>
          <p:cNvSpPr txBox="1"/>
          <p:nvPr/>
        </p:nvSpPr>
        <p:spPr>
          <a:xfrm>
            <a:off x="398371" y="4151958"/>
            <a:ext cx="5820600" cy="794700"/>
          </a:xfrm>
          <a:prstGeom prst="rect">
            <a:avLst/>
          </a:prstGeom>
          <a:solidFill>
            <a:srgbClr val="687010"/>
          </a:solid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b="1" i="1" lang="en" sz="1200">
                <a:solidFill>
                  <a:schemeClr val="lt2"/>
                </a:solidFill>
                <a:latin typeface="Roboto Serif"/>
                <a:ea typeface="Roboto Serif"/>
                <a:cs typeface="Roboto Serif"/>
                <a:sym typeface="Roboto Serif"/>
              </a:rPr>
              <a:t>Goal:</a:t>
            </a:r>
            <a:r>
              <a:rPr i="1" lang="en" sz="1200">
                <a:solidFill>
                  <a:schemeClr val="lt2"/>
                </a:solidFill>
                <a:latin typeface="Roboto Serif"/>
                <a:ea typeface="Roboto Serif"/>
                <a:cs typeface="Roboto Serif"/>
                <a:sym typeface="Roboto Serif"/>
              </a:rPr>
              <a:t> Build an end-to-end data pipeline that transforms raw eBird API data into meaningful ecological insights for both practical exploration and scientific analysis.</a:t>
            </a:r>
            <a:endParaRPr sz="1100">
              <a:solidFill>
                <a:schemeClr val="lt2"/>
              </a:solidFill>
            </a:endParaRPr>
          </a:p>
          <a:p>
            <a:pPr indent="0" lvl="0" marL="0" rtl="0" algn="ctr">
              <a:lnSpc>
                <a:spcPct val="115000"/>
              </a:lnSpc>
              <a:spcBef>
                <a:spcPts val="1200"/>
              </a:spcBef>
              <a:spcAft>
                <a:spcPts val="1200"/>
              </a:spcAft>
              <a:buNone/>
            </a:pPr>
            <a:r>
              <a:t/>
            </a:r>
            <a:endParaRPr i="1" sz="1200">
              <a:solidFill>
                <a:schemeClr val="dk1"/>
              </a:solidFill>
              <a:latin typeface="Roboto Serif"/>
              <a:ea typeface="Roboto Serif"/>
              <a:cs typeface="Roboto Serif"/>
              <a:sym typeface="Roboto Serif"/>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p:nvPr/>
        </p:nvSpPr>
        <p:spPr>
          <a:xfrm>
            <a:off x="-38786" y="2520183"/>
            <a:ext cx="9221568" cy="2623312"/>
          </a:xfrm>
          <a:custGeom>
            <a:rect b="b" l="l" r="r" t="t"/>
            <a:pathLst>
              <a:path extrusionOk="0" h="812800" w="2857186">
                <a:moveTo>
                  <a:pt x="0" y="0"/>
                </a:moveTo>
                <a:lnTo>
                  <a:pt x="2857186" y="0"/>
                </a:lnTo>
                <a:lnTo>
                  <a:pt x="2857186" y="812800"/>
                </a:lnTo>
                <a:lnTo>
                  <a:pt x="0" y="812800"/>
                </a:lnTo>
                <a:close/>
              </a:path>
            </a:pathLst>
          </a:custGeom>
          <a:blipFill rotWithShape="1">
            <a:blip r:embed="rId3">
              <a:alphaModFix/>
            </a:blip>
            <a:stretch>
              <a:fillRect b="-48858" l="0" r="0" t="-48868"/>
            </a:stretch>
          </a:blipFill>
          <a:ln>
            <a:noFill/>
          </a:ln>
        </p:spPr>
      </p:sp>
      <p:grpSp>
        <p:nvGrpSpPr>
          <p:cNvPr id="171" name="Google Shape;171;p27"/>
          <p:cNvGrpSpPr/>
          <p:nvPr/>
        </p:nvGrpSpPr>
        <p:grpSpPr>
          <a:xfrm>
            <a:off x="0" y="-90402"/>
            <a:ext cx="9608535" cy="1268171"/>
            <a:chOff x="0" y="-47625"/>
            <a:chExt cx="5061386" cy="1086600"/>
          </a:xfrm>
        </p:grpSpPr>
        <p:sp>
          <p:nvSpPr>
            <p:cNvPr id="172" name="Google Shape;172;p27"/>
            <p:cNvSpPr/>
            <p:nvPr/>
          </p:nvSpPr>
          <p:spPr>
            <a:xfrm>
              <a:off x="0" y="0"/>
              <a:ext cx="5061386" cy="1038877"/>
            </a:xfrm>
            <a:custGeom>
              <a:rect b="b" l="l" r="r" t="t"/>
              <a:pathLst>
                <a:path extrusionOk="0" h="1038877" w="5061386">
                  <a:moveTo>
                    <a:pt x="0" y="0"/>
                  </a:moveTo>
                  <a:lnTo>
                    <a:pt x="5061386" y="0"/>
                  </a:lnTo>
                  <a:lnTo>
                    <a:pt x="5061386" y="1038877"/>
                  </a:lnTo>
                  <a:lnTo>
                    <a:pt x="0" y="1038877"/>
                  </a:lnTo>
                  <a:close/>
                </a:path>
              </a:pathLst>
            </a:custGeom>
            <a:solidFill>
              <a:srgbClr val="F4F2F2"/>
            </a:solidFill>
            <a:ln>
              <a:noFill/>
            </a:ln>
          </p:spPr>
        </p:sp>
        <p:sp>
          <p:nvSpPr>
            <p:cNvPr id="173" name="Google Shape;173;p27"/>
            <p:cNvSpPr txBox="1"/>
            <p:nvPr/>
          </p:nvSpPr>
          <p:spPr>
            <a:xfrm>
              <a:off x="0" y="-47625"/>
              <a:ext cx="5061300" cy="1086600"/>
            </a:xfrm>
            <a:prstGeom prst="rect">
              <a:avLst/>
            </a:prstGeom>
            <a:no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74" name="Google Shape;174;p27"/>
          <p:cNvSpPr txBox="1"/>
          <p:nvPr/>
        </p:nvSpPr>
        <p:spPr>
          <a:xfrm>
            <a:off x="876450" y="149400"/>
            <a:ext cx="7391100" cy="1000500"/>
          </a:xfrm>
          <a:prstGeom prst="rect">
            <a:avLst/>
          </a:prstGeom>
          <a:noFill/>
          <a:ln>
            <a:noFill/>
          </a:ln>
        </p:spPr>
        <p:txBody>
          <a:bodyPr anchorCtr="0" anchor="t" bIns="0" lIns="0" spcFirstLastPara="1" rIns="0" wrap="square" tIns="0">
            <a:spAutoFit/>
          </a:bodyPr>
          <a:lstStyle/>
          <a:p>
            <a:pPr indent="0" lvl="0" marL="0" marR="0" rtl="0" algn="l">
              <a:lnSpc>
                <a:spcPct val="139998"/>
              </a:lnSpc>
              <a:spcBef>
                <a:spcPts val="0"/>
              </a:spcBef>
              <a:spcAft>
                <a:spcPts val="0"/>
              </a:spcAft>
              <a:buNone/>
            </a:pPr>
            <a:r>
              <a:rPr lang="en" sz="6500">
                <a:solidFill>
                  <a:srgbClr val="555C05"/>
                </a:solidFill>
                <a:latin typeface="League Gothic"/>
                <a:ea typeface="League Gothic"/>
                <a:cs typeface="League Gothic"/>
                <a:sym typeface="League Gothic"/>
              </a:rPr>
              <a:t>Solution: Our End-to-End Pipeline</a:t>
            </a:r>
            <a:endParaRPr sz="6500">
              <a:solidFill>
                <a:srgbClr val="555C05"/>
              </a:solidFill>
              <a:latin typeface="League Gothic"/>
              <a:ea typeface="League Gothic"/>
              <a:cs typeface="League Gothic"/>
              <a:sym typeface="League Gothic"/>
            </a:endParaRPr>
          </a:p>
        </p:txBody>
      </p:sp>
      <p:grpSp>
        <p:nvGrpSpPr>
          <p:cNvPr id="175" name="Google Shape;175;p27"/>
          <p:cNvGrpSpPr/>
          <p:nvPr/>
        </p:nvGrpSpPr>
        <p:grpSpPr>
          <a:xfrm>
            <a:off x="0" y="-66900"/>
            <a:ext cx="691575" cy="752958"/>
            <a:chOff x="0" y="-47625"/>
            <a:chExt cx="754500" cy="860425"/>
          </a:xfrm>
        </p:grpSpPr>
        <p:sp>
          <p:nvSpPr>
            <p:cNvPr id="176" name="Google Shape;176;p27"/>
            <p:cNvSpPr/>
            <p:nvPr/>
          </p:nvSpPr>
          <p:spPr>
            <a:xfrm>
              <a:off x="0" y="0"/>
              <a:ext cx="754479" cy="812800"/>
            </a:xfrm>
            <a:custGeom>
              <a:rect b="b" l="l" r="r" t="t"/>
              <a:pathLst>
                <a:path extrusionOk="0" h="812800" w="754479">
                  <a:moveTo>
                    <a:pt x="0" y="0"/>
                  </a:moveTo>
                  <a:lnTo>
                    <a:pt x="754479" y="0"/>
                  </a:lnTo>
                  <a:lnTo>
                    <a:pt x="754479" y="812800"/>
                  </a:lnTo>
                  <a:lnTo>
                    <a:pt x="0" y="812800"/>
                  </a:lnTo>
                  <a:close/>
                </a:path>
              </a:pathLst>
            </a:custGeom>
            <a:solidFill>
              <a:srgbClr val="555C05"/>
            </a:solidFill>
            <a:ln>
              <a:noFill/>
            </a:ln>
          </p:spPr>
        </p:sp>
        <p:sp>
          <p:nvSpPr>
            <p:cNvPr id="177" name="Google Shape;177;p27"/>
            <p:cNvSpPr txBox="1"/>
            <p:nvPr/>
          </p:nvSpPr>
          <p:spPr>
            <a:xfrm>
              <a:off x="0" y="-47625"/>
              <a:ext cx="754500" cy="860400"/>
            </a:xfrm>
            <a:prstGeom prst="rect">
              <a:avLst/>
            </a:prstGeom>
            <a:noFill/>
            <a:ln>
              <a:noFill/>
            </a:ln>
          </p:spPr>
          <p:txBody>
            <a:bodyPr anchorCtr="0" anchor="ctr" bIns="27500" lIns="27500" spcFirstLastPara="1" rIns="27500" wrap="square" tIns="27500">
              <a:noAutofit/>
            </a:bodyPr>
            <a:lstStyle/>
            <a:p>
              <a:pPr indent="0" lvl="0" marL="0" marR="0" rtl="0" algn="ctr">
                <a:lnSpc>
                  <a:spcPct val="157833"/>
                </a:lnSpc>
                <a:spcBef>
                  <a:spcPts val="0"/>
                </a:spcBef>
                <a:spcAft>
                  <a:spcPts val="0"/>
                </a:spcAft>
                <a:buNone/>
              </a:pPr>
              <a:r>
                <a:t/>
              </a:r>
              <a:endParaRPr b="0" i="0" sz="974" u="none" cap="none" strike="noStrike">
                <a:solidFill>
                  <a:schemeClr val="dk1"/>
                </a:solidFill>
                <a:latin typeface="Calibri"/>
                <a:ea typeface="Calibri"/>
                <a:cs typeface="Calibri"/>
                <a:sym typeface="Calibri"/>
              </a:endParaRPr>
            </a:p>
          </p:txBody>
        </p:sp>
      </p:grpSp>
      <p:sp>
        <p:nvSpPr>
          <p:cNvPr id="178" name="Google Shape;178;p27"/>
          <p:cNvSpPr txBox="1"/>
          <p:nvPr/>
        </p:nvSpPr>
        <p:spPr>
          <a:xfrm>
            <a:off x="199900" y="149410"/>
            <a:ext cx="413100" cy="333600"/>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1" i="0" lang="en" sz="2166" u="none" cap="none" strike="noStrike">
                <a:solidFill>
                  <a:srgbClr val="F4F2F2"/>
                </a:solidFill>
                <a:latin typeface="Arial"/>
                <a:ea typeface="Arial"/>
                <a:cs typeface="Arial"/>
                <a:sym typeface="Arial"/>
              </a:rPr>
              <a:t>03</a:t>
            </a:r>
            <a:endParaRPr sz="758"/>
          </a:p>
        </p:txBody>
      </p:sp>
      <p:pic>
        <p:nvPicPr>
          <p:cNvPr id="179" name="Google Shape;179;p27" title="Screenshot 2025-11-21 at 1.27.08 AM.png"/>
          <p:cNvPicPr preferRelativeResize="0"/>
          <p:nvPr/>
        </p:nvPicPr>
        <p:blipFill rotWithShape="1">
          <a:blip r:embed="rId4">
            <a:alphaModFix/>
          </a:blip>
          <a:srcRect b="23023" l="0" r="0" t="0"/>
          <a:stretch/>
        </p:blipFill>
        <p:spPr>
          <a:xfrm>
            <a:off x="54925" y="1252675"/>
            <a:ext cx="9034127" cy="34567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p:nvPr/>
        </p:nvSpPr>
        <p:spPr>
          <a:xfrm>
            <a:off x="-38786" y="2520183"/>
            <a:ext cx="9221568" cy="2623312"/>
          </a:xfrm>
          <a:custGeom>
            <a:rect b="b" l="l" r="r" t="t"/>
            <a:pathLst>
              <a:path extrusionOk="0" h="812800" w="2857186">
                <a:moveTo>
                  <a:pt x="0" y="0"/>
                </a:moveTo>
                <a:lnTo>
                  <a:pt x="2857186" y="0"/>
                </a:lnTo>
                <a:lnTo>
                  <a:pt x="2857186" y="812800"/>
                </a:lnTo>
                <a:lnTo>
                  <a:pt x="0" y="812800"/>
                </a:lnTo>
                <a:close/>
              </a:path>
            </a:pathLst>
          </a:custGeom>
          <a:blipFill rotWithShape="1">
            <a:blip r:embed="rId3">
              <a:alphaModFix/>
            </a:blip>
            <a:stretch>
              <a:fillRect b="-48858" l="0" r="0" t="-48868"/>
            </a:stretch>
          </a:blipFill>
          <a:ln>
            <a:noFill/>
          </a:ln>
        </p:spPr>
      </p:sp>
      <p:grpSp>
        <p:nvGrpSpPr>
          <p:cNvPr id="185" name="Google Shape;185;p28"/>
          <p:cNvGrpSpPr/>
          <p:nvPr/>
        </p:nvGrpSpPr>
        <p:grpSpPr>
          <a:xfrm>
            <a:off x="2450725" y="1248425"/>
            <a:ext cx="2032146" cy="3557963"/>
            <a:chOff x="0" y="-47625"/>
            <a:chExt cx="5061386" cy="1086600"/>
          </a:xfrm>
        </p:grpSpPr>
        <p:sp>
          <p:nvSpPr>
            <p:cNvPr id="186" name="Google Shape;186;p28"/>
            <p:cNvSpPr/>
            <p:nvPr/>
          </p:nvSpPr>
          <p:spPr>
            <a:xfrm>
              <a:off x="0" y="0"/>
              <a:ext cx="5061386" cy="1038877"/>
            </a:xfrm>
            <a:custGeom>
              <a:rect b="b" l="l" r="r" t="t"/>
              <a:pathLst>
                <a:path extrusionOk="0" h="1038877" w="5061386">
                  <a:moveTo>
                    <a:pt x="0" y="0"/>
                  </a:moveTo>
                  <a:lnTo>
                    <a:pt x="5061386" y="0"/>
                  </a:lnTo>
                  <a:lnTo>
                    <a:pt x="5061386" y="1038877"/>
                  </a:lnTo>
                  <a:lnTo>
                    <a:pt x="0" y="1038877"/>
                  </a:lnTo>
                  <a:close/>
                </a:path>
              </a:pathLst>
            </a:custGeom>
            <a:solidFill>
              <a:srgbClr val="687010"/>
            </a:solidFill>
            <a:ln>
              <a:noFill/>
            </a:ln>
          </p:spPr>
        </p:sp>
        <p:sp>
          <p:nvSpPr>
            <p:cNvPr id="187" name="Google Shape;187;p28"/>
            <p:cNvSpPr txBox="1"/>
            <p:nvPr/>
          </p:nvSpPr>
          <p:spPr>
            <a:xfrm>
              <a:off x="0" y="-47625"/>
              <a:ext cx="5061300" cy="1086600"/>
            </a:xfrm>
            <a:prstGeom prst="rect">
              <a:avLst/>
            </a:prstGeom>
            <a:solidFill>
              <a:srgbClr val="687010"/>
            </a:solid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None/>
              </a:pPr>
              <a:r>
                <a:t/>
              </a:r>
              <a:endParaRPr b="0" i="0" sz="899" u="none" cap="none" strike="noStrike">
                <a:solidFill>
                  <a:schemeClr val="dk1"/>
                </a:solidFill>
                <a:latin typeface="Calibri"/>
                <a:ea typeface="Calibri"/>
                <a:cs typeface="Calibri"/>
                <a:sym typeface="Calibri"/>
              </a:endParaRPr>
            </a:p>
          </p:txBody>
        </p:sp>
      </p:grpSp>
      <p:grpSp>
        <p:nvGrpSpPr>
          <p:cNvPr id="188" name="Google Shape;188;p28"/>
          <p:cNvGrpSpPr/>
          <p:nvPr/>
        </p:nvGrpSpPr>
        <p:grpSpPr>
          <a:xfrm>
            <a:off x="4710575" y="1248426"/>
            <a:ext cx="1990137" cy="3557963"/>
            <a:chOff x="0" y="-47625"/>
            <a:chExt cx="5061386" cy="1086600"/>
          </a:xfrm>
        </p:grpSpPr>
        <p:sp>
          <p:nvSpPr>
            <p:cNvPr id="189" name="Google Shape;189;p28"/>
            <p:cNvSpPr/>
            <p:nvPr/>
          </p:nvSpPr>
          <p:spPr>
            <a:xfrm>
              <a:off x="0" y="0"/>
              <a:ext cx="5061386" cy="1038877"/>
            </a:xfrm>
            <a:custGeom>
              <a:rect b="b" l="l" r="r" t="t"/>
              <a:pathLst>
                <a:path extrusionOk="0" h="1038877" w="5061386">
                  <a:moveTo>
                    <a:pt x="0" y="0"/>
                  </a:moveTo>
                  <a:lnTo>
                    <a:pt x="5061386" y="0"/>
                  </a:lnTo>
                  <a:lnTo>
                    <a:pt x="5061386" y="1038877"/>
                  </a:lnTo>
                  <a:lnTo>
                    <a:pt x="0" y="1038877"/>
                  </a:lnTo>
                  <a:close/>
                </a:path>
              </a:pathLst>
            </a:custGeom>
            <a:solidFill>
              <a:srgbClr val="687010"/>
            </a:solidFill>
            <a:ln>
              <a:noFill/>
            </a:ln>
          </p:spPr>
        </p:sp>
        <p:sp>
          <p:nvSpPr>
            <p:cNvPr id="190" name="Google Shape;190;p28"/>
            <p:cNvSpPr txBox="1"/>
            <p:nvPr/>
          </p:nvSpPr>
          <p:spPr>
            <a:xfrm>
              <a:off x="0" y="-47625"/>
              <a:ext cx="5061300" cy="1086600"/>
            </a:xfrm>
            <a:prstGeom prst="rect">
              <a:avLst/>
            </a:prstGeom>
            <a:solidFill>
              <a:srgbClr val="687010"/>
            </a:solid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None/>
              </a:pPr>
              <a:r>
                <a:t/>
              </a:r>
              <a:endParaRPr b="0" i="0" sz="899" u="none" cap="none" strike="noStrike">
                <a:solidFill>
                  <a:schemeClr val="dk1"/>
                </a:solidFill>
                <a:latin typeface="Calibri"/>
                <a:ea typeface="Calibri"/>
                <a:cs typeface="Calibri"/>
                <a:sym typeface="Calibri"/>
              </a:endParaRPr>
            </a:p>
          </p:txBody>
        </p:sp>
      </p:grpSp>
      <p:grpSp>
        <p:nvGrpSpPr>
          <p:cNvPr id="191" name="Google Shape;191;p28"/>
          <p:cNvGrpSpPr/>
          <p:nvPr/>
        </p:nvGrpSpPr>
        <p:grpSpPr>
          <a:xfrm>
            <a:off x="6910200" y="1248426"/>
            <a:ext cx="2000912" cy="3557963"/>
            <a:chOff x="-27403" y="-47625"/>
            <a:chExt cx="5088789" cy="1086600"/>
          </a:xfrm>
        </p:grpSpPr>
        <p:sp>
          <p:nvSpPr>
            <p:cNvPr id="192" name="Google Shape;192;p28"/>
            <p:cNvSpPr/>
            <p:nvPr/>
          </p:nvSpPr>
          <p:spPr>
            <a:xfrm>
              <a:off x="0" y="0"/>
              <a:ext cx="5061386" cy="1038877"/>
            </a:xfrm>
            <a:custGeom>
              <a:rect b="b" l="l" r="r" t="t"/>
              <a:pathLst>
                <a:path extrusionOk="0" h="1038877" w="5061386">
                  <a:moveTo>
                    <a:pt x="0" y="0"/>
                  </a:moveTo>
                  <a:lnTo>
                    <a:pt x="5061386" y="0"/>
                  </a:lnTo>
                  <a:lnTo>
                    <a:pt x="5061386" y="1038877"/>
                  </a:lnTo>
                  <a:lnTo>
                    <a:pt x="0" y="1038877"/>
                  </a:lnTo>
                  <a:close/>
                </a:path>
              </a:pathLst>
            </a:custGeom>
            <a:solidFill>
              <a:srgbClr val="687010"/>
            </a:solidFill>
            <a:ln>
              <a:noFill/>
            </a:ln>
          </p:spPr>
        </p:sp>
        <p:sp>
          <p:nvSpPr>
            <p:cNvPr id="193" name="Google Shape;193;p28"/>
            <p:cNvSpPr txBox="1"/>
            <p:nvPr/>
          </p:nvSpPr>
          <p:spPr>
            <a:xfrm>
              <a:off x="-27403" y="-47625"/>
              <a:ext cx="5061300" cy="1086600"/>
            </a:xfrm>
            <a:prstGeom prst="rect">
              <a:avLst/>
            </a:prstGeom>
            <a:solidFill>
              <a:srgbClr val="687010"/>
            </a:solid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Clr>
                  <a:srgbClr val="000000"/>
                </a:buClr>
                <a:buFont typeface="Arial"/>
                <a:buNone/>
              </a:pPr>
              <a:r>
                <a:t/>
              </a:r>
              <a:endParaRPr b="0" i="0" sz="899" u="none" cap="none" strike="noStrike">
                <a:solidFill>
                  <a:schemeClr val="dk1"/>
                </a:solidFill>
                <a:latin typeface="Calibri"/>
                <a:ea typeface="Calibri"/>
                <a:cs typeface="Calibri"/>
                <a:sym typeface="Calibri"/>
              </a:endParaRPr>
            </a:p>
          </p:txBody>
        </p:sp>
      </p:grpSp>
      <p:grpSp>
        <p:nvGrpSpPr>
          <p:cNvPr id="194" name="Google Shape;194;p28"/>
          <p:cNvGrpSpPr/>
          <p:nvPr/>
        </p:nvGrpSpPr>
        <p:grpSpPr>
          <a:xfrm>
            <a:off x="232900" y="1248426"/>
            <a:ext cx="1990137" cy="3557963"/>
            <a:chOff x="0" y="-47625"/>
            <a:chExt cx="5061386" cy="1086600"/>
          </a:xfrm>
        </p:grpSpPr>
        <p:sp>
          <p:nvSpPr>
            <p:cNvPr id="195" name="Google Shape;195;p28"/>
            <p:cNvSpPr/>
            <p:nvPr/>
          </p:nvSpPr>
          <p:spPr>
            <a:xfrm>
              <a:off x="0" y="0"/>
              <a:ext cx="5061386" cy="1038877"/>
            </a:xfrm>
            <a:custGeom>
              <a:rect b="b" l="l" r="r" t="t"/>
              <a:pathLst>
                <a:path extrusionOk="0" h="1038877" w="5061386">
                  <a:moveTo>
                    <a:pt x="0" y="0"/>
                  </a:moveTo>
                  <a:lnTo>
                    <a:pt x="5061386" y="0"/>
                  </a:lnTo>
                  <a:lnTo>
                    <a:pt x="5061386" y="1038877"/>
                  </a:lnTo>
                  <a:lnTo>
                    <a:pt x="0" y="1038877"/>
                  </a:lnTo>
                  <a:close/>
                </a:path>
              </a:pathLst>
            </a:custGeom>
            <a:solidFill>
              <a:srgbClr val="687010"/>
            </a:solidFill>
            <a:ln>
              <a:noFill/>
            </a:ln>
          </p:spPr>
        </p:sp>
        <p:sp>
          <p:nvSpPr>
            <p:cNvPr id="196" name="Google Shape;196;p28"/>
            <p:cNvSpPr txBox="1"/>
            <p:nvPr/>
          </p:nvSpPr>
          <p:spPr>
            <a:xfrm>
              <a:off x="0" y="-47625"/>
              <a:ext cx="5061300" cy="1086600"/>
            </a:xfrm>
            <a:prstGeom prst="rect">
              <a:avLst/>
            </a:prstGeom>
            <a:solidFill>
              <a:srgbClr val="687010"/>
            </a:solid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None/>
              </a:pPr>
              <a:r>
                <a:t/>
              </a:r>
              <a:endParaRPr b="0" i="0" sz="899" u="none" cap="none" strike="noStrike">
                <a:solidFill>
                  <a:schemeClr val="dk1"/>
                </a:solidFill>
                <a:latin typeface="Calibri"/>
                <a:ea typeface="Calibri"/>
                <a:cs typeface="Calibri"/>
                <a:sym typeface="Calibri"/>
              </a:endParaRPr>
            </a:p>
          </p:txBody>
        </p:sp>
      </p:grpSp>
      <p:sp>
        <p:nvSpPr>
          <p:cNvPr id="197" name="Google Shape;197;p28"/>
          <p:cNvSpPr txBox="1"/>
          <p:nvPr/>
        </p:nvSpPr>
        <p:spPr>
          <a:xfrm>
            <a:off x="128725" y="1806225"/>
            <a:ext cx="2094300" cy="3876900"/>
          </a:xfrm>
          <a:prstGeom prst="rect">
            <a:avLst/>
          </a:prstGeom>
          <a:noFill/>
          <a:ln>
            <a:noFill/>
          </a:ln>
        </p:spPr>
        <p:txBody>
          <a:bodyPr anchorCtr="0" anchor="t" bIns="0" lIns="0" spcFirstLastPara="1" rIns="0" wrap="square" tIns="0">
            <a:spAutoFit/>
          </a:bodyPr>
          <a:lstStyle/>
          <a:p>
            <a:pPr indent="-298450" lvl="0" marL="457200" marR="0" rtl="0" algn="l">
              <a:lnSpc>
                <a:spcPct val="139916"/>
              </a:lnSpc>
              <a:spcBef>
                <a:spcPts val="0"/>
              </a:spcBef>
              <a:spcAft>
                <a:spcPts val="0"/>
              </a:spcAft>
              <a:buClr>
                <a:schemeClr val="lt1"/>
              </a:buClr>
              <a:buSzPts val="1100"/>
              <a:buFont typeface="Roboto Serif"/>
              <a:buChar char="-"/>
            </a:pPr>
            <a:r>
              <a:rPr lang="en" sz="1100">
                <a:solidFill>
                  <a:schemeClr val="lt1"/>
                </a:solidFill>
                <a:latin typeface="Roboto Serif"/>
                <a:ea typeface="Roboto Serif"/>
                <a:cs typeface="Roboto Serif"/>
                <a:sym typeface="Roboto Serif"/>
              </a:rPr>
              <a:t>Get </a:t>
            </a:r>
            <a:r>
              <a:rPr b="1" lang="en" sz="1100">
                <a:solidFill>
                  <a:schemeClr val="lt1"/>
                </a:solidFill>
                <a:latin typeface="Roboto Serif"/>
                <a:ea typeface="Roboto Serif"/>
                <a:cs typeface="Roboto Serif"/>
                <a:sym typeface="Roboto Serif"/>
              </a:rPr>
              <a:t>s</a:t>
            </a:r>
            <a:r>
              <a:rPr b="1" lang="en" sz="1100">
                <a:solidFill>
                  <a:schemeClr val="lt1"/>
                </a:solidFill>
                <a:latin typeface="Roboto Serif"/>
                <a:ea typeface="Roboto Serif"/>
                <a:cs typeface="Roboto Serif"/>
                <a:sym typeface="Roboto Serif"/>
              </a:rPr>
              <a:t>pecies </a:t>
            </a:r>
            <a:r>
              <a:rPr lang="en" sz="1100">
                <a:solidFill>
                  <a:schemeClr val="lt1"/>
                </a:solidFill>
                <a:latin typeface="Roboto Serif"/>
                <a:ea typeface="Roboto Serif"/>
                <a:cs typeface="Roboto Serif"/>
                <a:sym typeface="Roboto Serif"/>
              </a:rPr>
              <a:t>that are uncommon in specified state</a:t>
            </a:r>
            <a:endParaRPr sz="1100">
              <a:solidFill>
                <a:schemeClr val="lt1"/>
              </a:solidFill>
              <a:latin typeface="Roboto Serif"/>
              <a:ea typeface="Roboto Serif"/>
              <a:cs typeface="Roboto Serif"/>
              <a:sym typeface="Roboto Serif"/>
            </a:endParaRPr>
          </a:p>
          <a:p>
            <a:pPr indent="0" lvl="0" marL="0" marR="0" rtl="0" algn="l">
              <a:lnSpc>
                <a:spcPct val="139916"/>
              </a:lnSpc>
              <a:spcBef>
                <a:spcPts val="0"/>
              </a:spcBef>
              <a:spcAft>
                <a:spcPts val="0"/>
              </a:spcAft>
              <a:buNone/>
            </a:pPr>
            <a:r>
              <a:t/>
            </a:r>
            <a:endParaRPr sz="1100">
              <a:solidFill>
                <a:schemeClr val="lt1"/>
              </a:solidFill>
              <a:latin typeface="Roboto Serif"/>
              <a:ea typeface="Roboto Serif"/>
              <a:cs typeface="Roboto Serif"/>
              <a:sym typeface="Roboto Serif"/>
            </a:endParaRPr>
          </a:p>
          <a:p>
            <a:pPr indent="-298450" lvl="0" marL="457200" marR="0" rtl="0" algn="l">
              <a:lnSpc>
                <a:spcPct val="139916"/>
              </a:lnSpc>
              <a:spcBef>
                <a:spcPts val="0"/>
              </a:spcBef>
              <a:spcAft>
                <a:spcPts val="0"/>
              </a:spcAft>
              <a:buClr>
                <a:srgbClr val="EFEFEF"/>
              </a:buClr>
              <a:buSzPts val="1100"/>
              <a:buFont typeface="Roboto Serif"/>
              <a:buChar char="-"/>
            </a:pPr>
            <a:r>
              <a:rPr lang="en" sz="1100">
                <a:solidFill>
                  <a:schemeClr val="lt1"/>
                </a:solidFill>
                <a:latin typeface="Roboto Serif"/>
                <a:ea typeface="Roboto Serif"/>
                <a:cs typeface="Roboto Serif"/>
                <a:sym typeface="Roboto Serif"/>
              </a:rPr>
              <a:t>Get </a:t>
            </a:r>
            <a:r>
              <a:rPr b="1" lang="en" sz="1100">
                <a:solidFill>
                  <a:schemeClr val="lt1"/>
                </a:solidFill>
                <a:latin typeface="Roboto Serif"/>
                <a:ea typeface="Roboto Serif"/>
                <a:cs typeface="Roboto Serif"/>
                <a:sym typeface="Roboto Serif"/>
              </a:rPr>
              <a:t>observation data </a:t>
            </a:r>
            <a:r>
              <a:rPr lang="en" sz="1100">
                <a:solidFill>
                  <a:schemeClr val="lt1"/>
                </a:solidFill>
                <a:latin typeface="Roboto Serif"/>
                <a:ea typeface="Roboto Serif"/>
                <a:cs typeface="Roboto Serif"/>
                <a:sym typeface="Roboto Serif"/>
              </a:rPr>
              <a:t>for those species across the United States within the last 30 day</a:t>
            </a:r>
            <a:r>
              <a:rPr lang="en" sz="1100">
                <a:solidFill>
                  <a:srgbClr val="EFEFEF"/>
                </a:solidFill>
                <a:latin typeface="Roboto Serif"/>
                <a:ea typeface="Roboto Serif"/>
                <a:cs typeface="Roboto Serif"/>
                <a:sym typeface="Roboto Serif"/>
              </a:rPr>
              <a:t>s</a:t>
            </a:r>
            <a:endParaRPr sz="1100">
              <a:solidFill>
                <a:srgbClr val="EFEFEF"/>
              </a:solidFill>
              <a:latin typeface="Roboto Serif"/>
              <a:ea typeface="Roboto Serif"/>
              <a:cs typeface="Roboto Serif"/>
              <a:sym typeface="Roboto Serif"/>
            </a:endParaRPr>
          </a:p>
          <a:p>
            <a:pPr indent="0" lvl="0" marL="0" marR="0" rtl="0" algn="l">
              <a:lnSpc>
                <a:spcPct val="139916"/>
              </a:lnSpc>
              <a:spcBef>
                <a:spcPts val="0"/>
              </a:spcBef>
              <a:spcAft>
                <a:spcPts val="0"/>
              </a:spcAft>
              <a:buNone/>
            </a:pPr>
            <a:r>
              <a:t/>
            </a:r>
            <a:endParaRPr sz="1100">
              <a:solidFill>
                <a:srgbClr val="EFEFEF"/>
              </a:solidFill>
              <a:latin typeface="Roboto Serif"/>
              <a:ea typeface="Roboto Serif"/>
              <a:cs typeface="Roboto Serif"/>
              <a:sym typeface="Roboto Serif"/>
            </a:endParaRPr>
          </a:p>
          <a:p>
            <a:pPr indent="-298450" lvl="0" marL="457200" marR="0" rtl="0" algn="l">
              <a:lnSpc>
                <a:spcPct val="139916"/>
              </a:lnSpc>
              <a:spcBef>
                <a:spcPts val="0"/>
              </a:spcBef>
              <a:spcAft>
                <a:spcPts val="0"/>
              </a:spcAft>
              <a:buClr>
                <a:schemeClr val="lt1"/>
              </a:buClr>
              <a:buSzPts val="1100"/>
              <a:buFont typeface="Roboto Serif"/>
              <a:buChar char="-"/>
            </a:pPr>
            <a:r>
              <a:rPr lang="en" sz="1100">
                <a:solidFill>
                  <a:schemeClr val="lt1"/>
                </a:solidFill>
                <a:latin typeface="Roboto Serif"/>
                <a:ea typeface="Roboto Serif"/>
                <a:cs typeface="Roboto Serif"/>
                <a:sym typeface="Roboto Serif"/>
              </a:rPr>
              <a:t>Get </a:t>
            </a:r>
            <a:r>
              <a:rPr b="1" lang="en" sz="1100">
                <a:solidFill>
                  <a:schemeClr val="lt1"/>
                </a:solidFill>
                <a:latin typeface="Roboto Serif"/>
                <a:ea typeface="Roboto Serif"/>
                <a:cs typeface="Roboto Serif"/>
                <a:sym typeface="Roboto Serif"/>
              </a:rPr>
              <a:t>hotspot location </a:t>
            </a:r>
            <a:r>
              <a:rPr lang="en" sz="1100">
                <a:solidFill>
                  <a:schemeClr val="lt1"/>
                </a:solidFill>
                <a:latin typeface="Roboto Serif"/>
                <a:ea typeface="Roboto Serif"/>
                <a:cs typeface="Roboto Serif"/>
                <a:sym typeface="Roboto Serif"/>
              </a:rPr>
              <a:t>across the United States</a:t>
            </a:r>
            <a:br>
              <a:rPr lang="en" sz="1100">
                <a:solidFill>
                  <a:schemeClr val="lt1"/>
                </a:solidFill>
                <a:latin typeface="Roboto Serif"/>
                <a:ea typeface="Roboto Serif"/>
                <a:cs typeface="Roboto Serif"/>
                <a:sym typeface="Roboto Serif"/>
              </a:rPr>
            </a:br>
            <a:br>
              <a:rPr lang="en" sz="1100">
                <a:solidFill>
                  <a:schemeClr val="lt1"/>
                </a:solidFill>
                <a:latin typeface="Roboto Serif"/>
                <a:ea typeface="Roboto Serif"/>
                <a:cs typeface="Roboto Serif"/>
                <a:sym typeface="Roboto Serif"/>
              </a:rPr>
            </a:br>
            <a:endParaRPr sz="1100">
              <a:solidFill>
                <a:schemeClr val="lt1"/>
              </a:solidFill>
              <a:latin typeface="Roboto Serif"/>
              <a:ea typeface="Roboto Serif"/>
              <a:cs typeface="Roboto Serif"/>
              <a:sym typeface="Roboto Serif"/>
            </a:endParaRPr>
          </a:p>
          <a:p>
            <a:pPr indent="0" lvl="0" marL="0" rtl="0" algn="l">
              <a:lnSpc>
                <a:spcPct val="115000"/>
              </a:lnSpc>
              <a:spcBef>
                <a:spcPts val="1200"/>
              </a:spcBef>
              <a:spcAft>
                <a:spcPts val="1200"/>
              </a:spcAft>
              <a:buNone/>
            </a:pPr>
            <a:r>
              <a:t/>
            </a:r>
            <a:endParaRPr b="1" sz="1100">
              <a:solidFill>
                <a:schemeClr val="lt1"/>
              </a:solidFill>
            </a:endParaRPr>
          </a:p>
        </p:txBody>
      </p:sp>
      <p:sp>
        <p:nvSpPr>
          <p:cNvPr id="198" name="Google Shape;198;p28"/>
          <p:cNvSpPr txBox="1"/>
          <p:nvPr/>
        </p:nvSpPr>
        <p:spPr>
          <a:xfrm>
            <a:off x="4934832" y="1408709"/>
            <a:ext cx="1523400" cy="277200"/>
          </a:xfrm>
          <a:prstGeom prst="rect">
            <a:avLst/>
          </a:prstGeom>
          <a:noFill/>
          <a:ln>
            <a:noFill/>
          </a:ln>
        </p:spPr>
        <p:txBody>
          <a:bodyPr anchorCtr="0" anchor="t" bIns="0" lIns="0" spcFirstLastPara="1" rIns="0" wrap="square" tIns="0">
            <a:spAutoFit/>
          </a:bodyPr>
          <a:lstStyle/>
          <a:p>
            <a:pPr indent="0" lvl="0" marL="0" marR="0" rtl="0" algn="ctr">
              <a:lnSpc>
                <a:spcPct val="119977"/>
              </a:lnSpc>
              <a:spcBef>
                <a:spcPts val="0"/>
              </a:spcBef>
              <a:spcAft>
                <a:spcPts val="0"/>
              </a:spcAft>
              <a:buNone/>
            </a:pPr>
            <a:r>
              <a:rPr b="1" i="0" lang="en" sz="1800" u="none" cap="none" strike="noStrike">
                <a:solidFill>
                  <a:schemeClr val="lt1"/>
                </a:solidFill>
                <a:latin typeface="Work Sans"/>
                <a:ea typeface="Work Sans"/>
                <a:cs typeface="Work Sans"/>
                <a:sym typeface="Work Sans"/>
              </a:rPr>
              <a:t>03. </a:t>
            </a:r>
            <a:r>
              <a:rPr b="1" lang="en" sz="1800">
                <a:solidFill>
                  <a:schemeClr val="lt1"/>
                </a:solidFill>
                <a:latin typeface="Work Sans"/>
                <a:ea typeface="Work Sans"/>
                <a:cs typeface="Work Sans"/>
                <a:sym typeface="Work Sans"/>
              </a:rPr>
              <a:t>Load</a:t>
            </a:r>
            <a:endParaRPr sz="1800">
              <a:solidFill>
                <a:schemeClr val="lt1"/>
              </a:solidFill>
            </a:endParaRPr>
          </a:p>
        </p:txBody>
      </p:sp>
      <p:sp>
        <p:nvSpPr>
          <p:cNvPr id="199" name="Google Shape;199;p28"/>
          <p:cNvSpPr txBox="1"/>
          <p:nvPr/>
        </p:nvSpPr>
        <p:spPr>
          <a:xfrm>
            <a:off x="4710575" y="1825425"/>
            <a:ext cx="1800000" cy="1102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1200"/>
              </a:spcBef>
              <a:spcAft>
                <a:spcPts val="0"/>
              </a:spcAft>
              <a:buClr>
                <a:schemeClr val="lt1"/>
              </a:buClr>
              <a:buSzPts val="1100"/>
              <a:buFont typeface="Roboto Serif"/>
              <a:buChar char="-"/>
            </a:pPr>
            <a:r>
              <a:rPr b="1" lang="en" sz="1100">
                <a:solidFill>
                  <a:schemeClr val="lt1"/>
                </a:solidFill>
                <a:latin typeface="Roboto Serif"/>
                <a:ea typeface="Roboto Serif"/>
                <a:cs typeface="Roboto Serif"/>
                <a:sym typeface="Roboto Serif"/>
              </a:rPr>
              <a:t>Load</a:t>
            </a:r>
            <a:r>
              <a:rPr lang="en" sz="1100">
                <a:solidFill>
                  <a:schemeClr val="lt1"/>
                </a:solidFill>
                <a:latin typeface="Roboto Serif"/>
                <a:ea typeface="Roboto Serif"/>
                <a:cs typeface="Roboto Serif"/>
                <a:sym typeface="Roboto Serif"/>
              </a:rPr>
              <a:t> the normalized data into </a:t>
            </a:r>
            <a:r>
              <a:rPr b="1" lang="en" sz="1100">
                <a:solidFill>
                  <a:schemeClr val="lt1"/>
                </a:solidFill>
                <a:latin typeface="Roboto Serif"/>
                <a:ea typeface="Roboto Serif"/>
                <a:cs typeface="Roboto Serif"/>
                <a:sym typeface="Roboto Serif"/>
              </a:rPr>
              <a:t>SQLite</a:t>
            </a:r>
            <a:br>
              <a:rPr lang="en" sz="1100">
                <a:solidFill>
                  <a:schemeClr val="lt1"/>
                </a:solidFill>
                <a:latin typeface="Roboto Serif"/>
                <a:ea typeface="Roboto Serif"/>
                <a:cs typeface="Roboto Serif"/>
                <a:sym typeface="Roboto Serif"/>
              </a:rPr>
            </a:br>
            <a:endParaRPr sz="1100">
              <a:solidFill>
                <a:schemeClr val="lt1"/>
              </a:solidFill>
              <a:latin typeface="Roboto Serif"/>
              <a:ea typeface="Roboto Serif"/>
              <a:cs typeface="Roboto Serif"/>
              <a:sym typeface="Roboto Serif"/>
            </a:endParaRPr>
          </a:p>
          <a:p>
            <a:pPr indent="0" lvl="0" marL="457200" marR="0" rtl="0" algn="l">
              <a:lnSpc>
                <a:spcPct val="139916"/>
              </a:lnSpc>
              <a:spcBef>
                <a:spcPts val="1200"/>
              </a:spcBef>
              <a:spcAft>
                <a:spcPts val="0"/>
              </a:spcAft>
              <a:buNone/>
            </a:pPr>
            <a:r>
              <a:rPr i="0" lang="en" sz="1100" u="none" cap="none" strike="noStrike">
                <a:solidFill>
                  <a:schemeClr val="lt1"/>
                </a:solidFill>
                <a:latin typeface="Roboto Serif"/>
                <a:ea typeface="Roboto Serif"/>
                <a:cs typeface="Roboto Serif"/>
                <a:sym typeface="Roboto Serif"/>
              </a:rPr>
              <a:t> </a:t>
            </a:r>
            <a:endParaRPr sz="1100">
              <a:solidFill>
                <a:schemeClr val="lt1"/>
              </a:solidFill>
              <a:latin typeface="Roboto Serif"/>
              <a:ea typeface="Roboto Serif"/>
              <a:cs typeface="Roboto Serif"/>
              <a:sym typeface="Roboto Serif"/>
            </a:endParaRPr>
          </a:p>
        </p:txBody>
      </p:sp>
      <p:sp>
        <p:nvSpPr>
          <p:cNvPr id="200" name="Google Shape;200;p28"/>
          <p:cNvSpPr txBox="1"/>
          <p:nvPr/>
        </p:nvSpPr>
        <p:spPr>
          <a:xfrm>
            <a:off x="2543900" y="1383749"/>
            <a:ext cx="1725000" cy="277200"/>
          </a:xfrm>
          <a:prstGeom prst="rect">
            <a:avLst/>
          </a:prstGeom>
          <a:noFill/>
          <a:ln>
            <a:noFill/>
          </a:ln>
        </p:spPr>
        <p:txBody>
          <a:bodyPr anchorCtr="0" anchor="t" bIns="0" lIns="0" spcFirstLastPara="1" rIns="0" wrap="square" tIns="0">
            <a:spAutoFit/>
          </a:bodyPr>
          <a:lstStyle/>
          <a:p>
            <a:pPr indent="0" lvl="0" marL="0" marR="0" rtl="0" algn="ctr">
              <a:lnSpc>
                <a:spcPct val="119977"/>
              </a:lnSpc>
              <a:spcBef>
                <a:spcPts val="0"/>
              </a:spcBef>
              <a:spcAft>
                <a:spcPts val="0"/>
              </a:spcAft>
              <a:buNone/>
            </a:pPr>
            <a:r>
              <a:rPr b="1" i="0" lang="en" sz="1800" u="none" cap="none" strike="noStrike">
                <a:solidFill>
                  <a:schemeClr val="lt1"/>
                </a:solidFill>
                <a:latin typeface="Work Sans"/>
                <a:ea typeface="Work Sans"/>
                <a:cs typeface="Work Sans"/>
                <a:sym typeface="Work Sans"/>
              </a:rPr>
              <a:t>02. </a:t>
            </a:r>
            <a:r>
              <a:rPr b="1" lang="en" sz="1800">
                <a:solidFill>
                  <a:schemeClr val="lt1"/>
                </a:solidFill>
                <a:latin typeface="Work Sans"/>
                <a:ea typeface="Work Sans"/>
                <a:cs typeface="Work Sans"/>
                <a:sym typeface="Work Sans"/>
              </a:rPr>
              <a:t>Transform</a:t>
            </a:r>
            <a:endParaRPr sz="1800">
              <a:solidFill>
                <a:schemeClr val="lt1"/>
              </a:solidFill>
            </a:endParaRPr>
          </a:p>
        </p:txBody>
      </p:sp>
      <p:sp>
        <p:nvSpPr>
          <p:cNvPr id="201" name="Google Shape;201;p28"/>
          <p:cNvSpPr txBox="1"/>
          <p:nvPr/>
        </p:nvSpPr>
        <p:spPr>
          <a:xfrm>
            <a:off x="2406775" y="1806225"/>
            <a:ext cx="2094300" cy="3012000"/>
          </a:xfrm>
          <a:prstGeom prst="rect">
            <a:avLst/>
          </a:prstGeom>
          <a:noFill/>
          <a:ln>
            <a:noFill/>
          </a:ln>
        </p:spPr>
        <p:txBody>
          <a:bodyPr anchorCtr="0" anchor="t" bIns="0" lIns="0" spcFirstLastPara="1" rIns="0" wrap="square" tIns="0">
            <a:spAutoFit/>
          </a:bodyPr>
          <a:lstStyle/>
          <a:p>
            <a:pPr indent="-298450" lvl="0" marL="457200" marR="0" rtl="0" algn="l">
              <a:lnSpc>
                <a:spcPct val="139916"/>
              </a:lnSpc>
              <a:spcBef>
                <a:spcPts val="0"/>
              </a:spcBef>
              <a:spcAft>
                <a:spcPts val="0"/>
              </a:spcAft>
              <a:buClr>
                <a:schemeClr val="lt1"/>
              </a:buClr>
              <a:buSzPts val="1100"/>
              <a:buFont typeface="Roboto Serif"/>
              <a:buChar char="-"/>
            </a:pPr>
            <a:r>
              <a:rPr b="1" lang="en" sz="1100">
                <a:solidFill>
                  <a:schemeClr val="lt1"/>
                </a:solidFill>
                <a:latin typeface="Roboto Serif"/>
                <a:ea typeface="Roboto Serif"/>
                <a:cs typeface="Roboto Serif"/>
                <a:sym typeface="Roboto Serif"/>
              </a:rPr>
              <a:t>Feature Selection</a:t>
            </a:r>
            <a:endParaRPr b="1" sz="1100">
              <a:solidFill>
                <a:schemeClr val="lt1"/>
              </a:solidFill>
              <a:latin typeface="Roboto Serif"/>
              <a:ea typeface="Roboto Serif"/>
              <a:cs typeface="Roboto Serif"/>
              <a:sym typeface="Roboto Serif"/>
            </a:endParaRPr>
          </a:p>
          <a:p>
            <a:pPr indent="-298450" lvl="0" marL="457200" marR="0" rtl="0" algn="l">
              <a:lnSpc>
                <a:spcPct val="139916"/>
              </a:lnSpc>
              <a:spcBef>
                <a:spcPts val="0"/>
              </a:spcBef>
              <a:spcAft>
                <a:spcPts val="0"/>
              </a:spcAft>
              <a:buClr>
                <a:srgbClr val="F3F3F3"/>
              </a:buClr>
              <a:buSzPts val="1100"/>
              <a:buFont typeface="Roboto Serif"/>
              <a:buChar char="-"/>
            </a:pPr>
            <a:r>
              <a:rPr b="1" lang="en" sz="1100">
                <a:solidFill>
                  <a:srgbClr val="F3F3F3"/>
                </a:solidFill>
                <a:latin typeface="Roboto Serif"/>
                <a:ea typeface="Roboto Serif"/>
                <a:cs typeface="Roboto Serif"/>
                <a:sym typeface="Roboto Serif"/>
              </a:rPr>
              <a:t>Map state</a:t>
            </a:r>
            <a:r>
              <a:rPr lang="en" sz="1100">
                <a:solidFill>
                  <a:srgbClr val="F3F3F3"/>
                </a:solidFill>
                <a:latin typeface="Roboto Serif"/>
                <a:ea typeface="Roboto Serif"/>
                <a:cs typeface="Roboto Serif"/>
                <a:sym typeface="Roboto Serif"/>
              </a:rPr>
              <a:t> with longitude and latitude using geopanda</a:t>
            </a:r>
            <a:endParaRPr sz="1100">
              <a:solidFill>
                <a:srgbClr val="F3F3F3"/>
              </a:solidFill>
              <a:latin typeface="Roboto Serif"/>
              <a:ea typeface="Roboto Serif"/>
              <a:cs typeface="Roboto Serif"/>
              <a:sym typeface="Roboto Serif"/>
            </a:endParaRPr>
          </a:p>
          <a:p>
            <a:pPr indent="-298450" lvl="0" marL="457200" marR="0" rtl="0" algn="l">
              <a:lnSpc>
                <a:spcPct val="139916"/>
              </a:lnSpc>
              <a:spcBef>
                <a:spcPts val="0"/>
              </a:spcBef>
              <a:spcAft>
                <a:spcPts val="0"/>
              </a:spcAft>
              <a:buClr>
                <a:schemeClr val="lt1"/>
              </a:buClr>
              <a:buSzPts val="1100"/>
              <a:buFont typeface="Roboto Serif"/>
              <a:buChar char="-"/>
            </a:pPr>
            <a:r>
              <a:rPr lang="en" sz="1100">
                <a:solidFill>
                  <a:schemeClr val="lt1"/>
                </a:solidFill>
                <a:latin typeface="Roboto Serif"/>
                <a:ea typeface="Roboto Serif"/>
                <a:cs typeface="Roboto Serif"/>
                <a:sym typeface="Roboto Serif"/>
              </a:rPr>
              <a:t>Calculate</a:t>
            </a:r>
            <a:r>
              <a:rPr lang="en" sz="1100">
                <a:solidFill>
                  <a:schemeClr val="lt1"/>
                </a:solidFill>
                <a:latin typeface="Roboto Serif"/>
                <a:ea typeface="Roboto Serif"/>
                <a:cs typeface="Roboto Serif"/>
                <a:sym typeface="Roboto Serif"/>
              </a:rPr>
              <a:t> </a:t>
            </a:r>
            <a:r>
              <a:rPr b="1" lang="en" sz="1100">
                <a:solidFill>
                  <a:schemeClr val="lt1"/>
                </a:solidFill>
                <a:latin typeface="Roboto Serif"/>
                <a:ea typeface="Roboto Serif"/>
                <a:cs typeface="Roboto Serif"/>
                <a:sym typeface="Roboto Serif"/>
              </a:rPr>
              <a:t>species richness</a:t>
            </a:r>
            <a:r>
              <a:rPr lang="en" sz="1100">
                <a:solidFill>
                  <a:schemeClr val="lt1"/>
                </a:solidFill>
                <a:latin typeface="Roboto Serif"/>
                <a:ea typeface="Roboto Serif"/>
                <a:cs typeface="Roboto Serif"/>
                <a:sym typeface="Roboto Serif"/>
              </a:rPr>
              <a:t> and </a:t>
            </a:r>
            <a:r>
              <a:rPr b="1" lang="en" sz="1100">
                <a:solidFill>
                  <a:schemeClr val="lt1"/>
                </a:solidFill>
                <a:latin typeface="Roboto Serif"/>
                <a:ea typeface="Roboto Serif"/>
                <a:cs typeface="Roboto Serif"/>
                <a:sym typeface="Roboto Serif"/>
              </a:rPr>
              <a:t>hot spot density</a:t>
            </a:r>
            <a:r>
              <a:rPr lang="en" sz="1100">
                <a:solidFill>
                  <a:schemeClr val="lt1"/>
                </a:solidFill>
                <a:latin typeface="Roboto Serif"/>
                <a:ea typeface="Roboto Serif"/>
                <a:cs typeface="Roboto Serif"/>
                <a:sym typeface="Roboto Serif"/>
              </a:rPr>
              <a:t> for each state</a:t>
            </a:r>
            <a:endParaRPr sz="1100">
              <a:solidFill>
                <a:schemeClr val="lt1"/>
              </a:solidFill>
              <a:latin typeface="Roboto Serif"/>
              <a:ea typeface="Roboto Serif"/>
              <a:cs typeface="Roboto Serif"/>
              <a:sym typeface="Roboto Serif"/>
            </a:endParaRPr>
          </a:p>
          <a:p>
            <a:pPr indent="-298450" lvl="0" marL="457200" marR="0" rtl="0" algn="l">
              <a:lnSpc>
                <a:spcPct val="139916"/>
              </a:lnSpc>
              <a:spcBef>
                <a:spcPts val="0"/>
              </a:spcBef>
              <a:spcAft>
                <a:spcPts val="0"/>
              </a:spcAft>
              <a:buClr>
                <a:srgbClr val="EFEFEF"/>
              </a:buClr>
              <a:buSzPts val="1100"/>
              <a:buFont typeface="Roboto Serif"/>
              <a:buChar char="-"/>
            </a:pPr>
            <a:r>
              <a:rPr lang="en" sz="1100">
                <a:solidFill>
                  <a:srgbClr val="EFEFEF"/>
                </a:solidFill>
                <a:latin typeface="Roboto Serif"/>
                <a:ea typeface="Roboto Serif"/>
                <a:cs typeface="Roboto Serif"/>
                <a:sym typeface="Roboto Serif"/>
              </a:rPr>
              <a:t>Linked bird names to </a:t>
            </a:r>
            <a:r>
              <a:rPr b="1" lang="en" sz="1100">
                <a:solidFill>
                  <a:srgbClr val="EFEFEF"/>
                </a:solidFill>
                <a:latin typeface="Roboto Serif"/>
                <a:ea typeface="Roboto Serif"/>
                <a:cs typeface="Roboto Serif"/>
                <a:sym typeface="Roboto Serif"/>
              </a:rPr>
              <a:t>URLs</a:t>
            </a:r>
            <a:r>
              <a:rPr lang="en" sz="1100">
                <a:solidFill>
                  <a:srgbClr val="EFEFEF"/>
                </a:solidFill>
                <a:latin typeface="Roboto Serif"/>
                <a:ea typeface="Roboto Serif"/>
                <a:cs typeface="Roboto Serif"/>
                <a:sym typeface="Roboto Serif"/>
              </a:rPr>
              <a:t> for additional information</a:t>
            </a:r>
            <a:endParaRPr sz="1100">
              <a:solidFill>
                <a:srgbClr val="EFEFEF"/>
              </a:solidFill>
              <a:latin typeface="Roboto Serif"/>
              <a:ea typeface="Roboto Serif"/>
              <a:cs typeface="Roboto Serif"/>
              <a:sym typeface="Roboto Serif"/>
            </a:endParaRPr>
          </a:p>
          <a:p>
            <a:pPr indent="-298450" lvl="0" marL="457200" marR="0" rtl="0" algn="l">
              <a:lnSpc>
                <a:spcPct val="139916"/>
              </a:lnSpc>
              <a:spcBef>
                <a:spcPts val="0"/>
              </a:spcBef>
              <a:spcAft>
                <a:spcPts val="0"/>
              </a:spcAft>
              <a:buClr>
                <a:schemeClr val="lt1"/>
              </a:buClr>
              <a:buSzPts val="1100"/>
              <a:buFont typeface="Roboto Serif"/>
              <a:buChar char="-"/>
            </a:pPr>
            <a:r>
              <a:rPr b="1" lang="en" sz="1100">
                <a:solidFill>
                  <a:schemeClr val="lt1"/>
                </a:solidFill>
                <a:latin typeface="Roboto Serif"/>
                <a:ea typeface="Roboto Serif"/>
                <a:cs typeface="Roboto Serif"/>
                <a:sym typeface="Roboto Serif"/>
              </a:rPr>
              <a:t>Normalizing</a:t>
            </a:r>
            <a:r>
              <a:rPr lang="en" sz="1100">
                <a:solidFill>
                  <a:schemeClr val="lt1"/>
                </a:solidFill>
                <a:latin typeface="Roboto Serif"/>
                <a:ea typeface="Roboto Serif"/>
                <a:cs typeface="Roboto Serif"/>
                <a:sym typeface="Roboto Serif"/>
              </a:rPr>
              <a:t> the data for relational database</a:t>
            </a:r>
            <a:endParaRPr sz="1100">
              <a:solidFill>
                <a:schemeClr val="lt1"/>
              </a:solidFill>
              <a:latin typeface="Roboto Serif"/>
              <a:ea typeface="Roboto Serif"/>
              <a:cs typeface="Roboto Serif"/>
              <a:sym typeface="Roboto Serif"/>
            </a:endParaRPr>
          </a:p>
          <a:p>
            <a:pPr indent="0" lvl="0" marL="457200" marR="0" rtl="0" algn="l">
              <a:lnSpc>
                <a:spcPct val="139916"/>
              </a:lnSpc>
              <a:spcBef>
                <a:spcPts val="0"/>
              </a:spcBef>
              <a:spcAft>
                <a:spcPts val="0"/>
              </a:spcAft>
              <a:buNone/>
            </a:pPr>
            <a:r>
              <a:t/>
            </a:r>
            <a:endParaRPr sz="1100">
              <a:solidFill>
                <a:schemeClr val="lt1"/>
              </a:solidFill>
              <a:latin typeface="Roboto Serif"/>
              <a:ea typeface="Roboto Serif"/>
              <a:cs typeface="Roboto Serif"/>
              <a:sym typeface="Roboto Serif"/>
            </a:endParaRPr>
          </a:p>
        </p:txBody>
      </p:sp>
      <p:sp>
        <p:nvSpPr>
          <p:cNvPr id="202" name="Google Shape;202;p28"/>
          <p:cNvSpPr txBox="1"/>
          <p:nvPr/>
        </p:nvSpPr>
        <p:spPr>
          <a:xfrm>
            <a:off x="7124153" y="1420853"/>
            <a:ext cx="1523400" cy="277200"/>
          </a:xfrm>
          <a:prstGeom prst="rect">
            <a:avLst/>
          </a:prstGeom>
          <a:noFill/>
          <a:ln>
            <a:noFill/>
          </a:ln>
        </p:spPr>
        <p:txBody>
          <a:bodyPr anchorCtr="0" anchor="t" bIns="0" lIns="0" spcFirstLastPara="1" rIns="0" wrap="square" tIns="0">
            <a:spAutoFit/>
          </a:bodyPr>
          <a:lstStyle/>
          <a:p>
            <a:pPr indent="0" lvl="0" marL="0" marR="0" rtl="0" algn="ctr">
              <a:lnSpc>
                <a:spcPct val="119977"/>
              </a:lnSpc>
              <a:spcBef>
                <a:spcPts val="0"/>
              </a:spcBef>
              <a:spcAft>
                <a:spcPts val="0"/>
              </a:spcAft>
              <a:buNone/>
            </a:pPr>
            <a:r>
              <a:rPr b="1" i="0" lang="en" sz="1800" u="none" cap="none" strike="noStrike">
                <a:solidFill>
                  <a:schemeClr val="lt1"/>
                </a:solidFill>
                <a:latin typeface="Work Sans"/>
                <a:ea typeface="Work Sans"/>
                <a:cs typeface="Work Sans"/>
                <a:sym typeface="Work Sans"/>
              </a:rPr>
              <a:t>04. </a:t>
            </a:r>
            <a:r>
              <a:rPr b="1" lang="en" sz="1800">
                <a:solidFill>
                  <a:schemeClr val="lt1"/>
                </a:solidFill>
                <a:latin typeface="Work Sans"/>
                <a:ea typeface="Work Sans"/>
                <a:cs typeface="Work Sans"/>
                <a:sym typeface="Work Sans"/>
              </a:rPr>
              <a:t>Visualize</a:t>
            </a:r>
            <a:endParaRPr sz="1800">
              <a:solidFill>
                <a:schemeClr val="lt1"/>
              </a:solidFill>
            </a:endParaRPr>
          </a:p>
        </p:txBody>
      </p:sp>
      <p:sp>
        <p:nvSpPr>
          <p:cNvPr id="203" name="Google Shape;203;p28"/>
          <p:cNvSpPr txBox="1"/>
          <p:nvPr/>
        </p:nvSpPr>
        <p:spPr>
          <a:xfrm>
            <a:off x="7084753" y="2007632"/>
            <a:ext cx="1725000" cy="1692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t/>
            </a:r>
            <a:endParaRPr sz="1100">
              <a:solidFill>
                <a:schemeClr val="lt1"/>
              </a:solidFill>
              <a:latin typeface="Roboto Serif"/>
              <a:ea typeface="Roboto Serif"/>
              <a:cs typeface="Roboto Serif"/>
              <a:sym typeface="Roboto Serif"/>
            </a:endParaRPr>
          </a:p>
        </p:txBody>
      </p:sp>
      <p:sp>
        <p:nvSpPr>
          <p:cNvPr id="204" name="Google Shape;204;p28"/>
          <p:cNvSpPr txBox="1"/>
          <p:nvPr/>
        </p:nvSpPr>
        <p:spPr>
          <a:xfrm>
            <a:off x="372700" y="1362990"/>
            <a:ext cx="1523400" cy="277200"/>
          </a:xfrm>
          <a:prstGeom prst="rect">
            <a:avLst/>
          </a:prstGeom>
          <a:noFill/>
          <a:ln>
            <a:noFill/>
          </a:ln>
        </p:spPr>
        <p:txBody>
          <a:bodyPr anchorCtr="0" anchor="t" bIns="0" lIns="0" spcFirstLastPara="1" rIns="0" wrap="square" tIns="0">
            <a:spAutoFit/>
          </a:bodyPr>
          <a:lstStyle/>
          <a:p>
            <a:pPr indent="0" lvl="0" marL="0" marR="0" rtl="0" algn="ctr">
              <a:lnSpc>
                <a:spcPct val="119977"/>
              </a:lnSpc>
              <a:spcBef>
                <a:spcPts val="0"/>
              </a:spcBef>
              <a:spcAft>
                <a:spcPts val="0"/>
              </a:spcAft>
              <a:buNone/>
            </a:pPr>
            <a:r>
              <a:rPr b="1" i="0" lang="en" sz="1800" u="none" cap="none" strike="noStrike">
                <a:solidFill>
                  <a:schemeClr val="lt1"/>
                </a:solidFill>
                <a:latin typeface="Work Sans"/>
                <a:ea typeface="Work Sans"/>
                <a:cs typeface="Work Sans"/>
                <a:sym typeface="Work Sans"/>
              </a:rPr>
              <a:t>0</a:t>
            </a:r>
            <a:r>
              <a:rPr b="1" lang="en" sz="1800">
                <a:solidFill>
                  <a:schemeClr val="lt1"/>
                </a:solidFill>
                <a:latin typeface="Work Sans"/>
                <a:ea typeface="Work Sans"/>
                <a:cs typeface="Work Sans"/>
                <a:sym typeface="Work Sans"/>
              </a:rPr>
              <a:t>1</a:t>
            </a:r>
            <a:r>
              <a:rPr b="1" i="0" lang="en" sz="1800" u="none" cap="none" strike="noStrike">
                <a:solidFill>
                  <a:schemeClr val="lt1"/>
                </a:solidFill>
                <a:latin typeface="Work Sans"/>
                <a:ea typeface="Work Sans"/>
                <a:cs typeface="Work Sans"/>
                <a:sym typeface="Work Sans"/>
              </a:rPr>
              <a:t>. </a:t>
            </a:r>
            <a:r>
              <a:rPr b="1" lang="en" sz="1800">
                <a:solidFill>
                  <a:schemeClr val="lt1"/>
                </a:solidFill>
                <a:latin typeface="Work Sans"/>
                <a:ea typeface="Work Sans"/>
                <a:cs typeface="Work Sans"/>
                <a:sym typeface="Work Sans"/>
              </a:rPr>
              <a:t>Extract</a:t>
            </a:r>
            <a:endParaRPr sz="1800">
              <a:solidFill>
                <a:schemeClr val="lt1"/>
              </a:solidFill>
            </a:endParaRPr>
          </a:p>
        </p:txBody>
      </p:sp>
      <p:grpSp>
        <p:nvGrpSpPr>
          <p:cNvPr id="205" name="Google Shape;205;p28"/>
          <p:cNvGrpSpPr/>
          <p:nvPr/>
        </p:nvGrpSpPr>
        <p:grpSpPr>
          <a:xfrm>
            <a:off x="0" y="-90402"/>
            <a:ext cx="9608535" cy="1268171"/>
            <a:chOff x="0" y="-47625"/>
            <a:chExt cx="5061386" cy="1086600"/>
          </a:xfrm>
        </p:grpSpPr>
        <p:sp>
          <p:nvSpPr>
            <p:cNvPr id="206" name="Google Shape;206;p28"/>
            <p:cNvSpPr/>
            <p:nvPr/>
          </p:nvSpPr>
          <p:spPr>
            <a:xfrm>
              <a:off x="0" y="0"/>
              <a:ext cx="5061386" cy="1038877"/>
            </a:xfrm>
            <a:custGeom>
              <a:rect b="b" l="l" r="r" t="t"/>
              <a:pathLst>
                <a:path extrusionOk="0" h="1038877" w="5061386">
                  <a:moveTo>
                    <a:pt x="0" y="0"/>
                  </a:moveTo>
                  <a:lnTo>
                    <a:pt x="5061386" y="0"/>
                  </a:lnTo>
                  <a:lnTo>
                    <a:pt x="5061386" y="1038877"/>
                  </a:lnTo>
                  <a:lnTo>
                    <a:pt x="0" y="1038877"/>
                  </a:lnTo>
                  <a:close/>
                </a:path>
              </a:pathLst>
            </a:custGeom>
            <a:solidFill>
              <a:srgbClr val="F4F2F2"/>
            </a:solidFill>
            <a:ln>
              <a:noFill/>
            </a:ln>
          </p:spPr>
        </p:sp>
        <p:sp>
          <p:nvSpPr>
            <p:cNvPr id="207" name="Google Shape;207;p28"/>
            <p:cNvSpPr txBox="1"/>
            <p:nvPr/>
          </p:nvSpPr>
          <p:spPr>
            <a:xfrm>
              <a:off x="0" y="-47625"/>
              <a:ext cx="5061300" cy="1086600"/>
            </a:xfrm>
            <a:prstGeom prst="rect">
              <a:avLst/>
            </a:prstGeom>
            <a:no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08" name="Google Shape;208;p28"/>
          <p:cNvSpPr txBox="1"/>
          <p:nvPr/>
        </p:nvSpPr>
        <p:spPr>
          <a:xfrm>
            <a:off x="876450" y="149400"/>
            <a:ext cx="7391100" cy="1000500"/>
          </a:xfrm>
          <a:prstGeom prst="rect">
            <a:avLst/>
          </a:prstGeom>
          <a:noFill/>
          <a:ln>
            <a:noFill/>
          </a:ln>
        </p:spPr>
        <p:txBody>
          <a:bodyPr anchorCtr="0" anchor="t" bIns="0" lIns="0" spcFirstLastPara="1" rIns="0" wrap="square" tIns="0">
            <a:spAutoFit/>
          </a:bodyPr>
          <a:lstStyle/>
          <a:p>
            <a:pPr indent="0" lvl="0" marL="0" marR="0" rtl="0" algn="l">
              <a:lnSpc>
                <a:spcPct val="139998"/>
              </a:lnSpc>
              <a:spcBef>
                <a:spcPts val="0"/>
              </a:spcBef>
              <a:spcAft>
                <a:spcPts val="0"/>
              </a:spcAft>
              <a:buNone/>
            </a:pPr>
            <a:r>
              <a:rPr lang="en" sz="6500">
                <a:solidFill>
                  <a:srgbClr val="555C05"/>
                </a:solidFill>
                <a:latin typeface="League Gothic"/>
                <a:ea typeface="League Gothic"/>
                <a:cs typeface="League Gothic"/>
                <a:sym typeface="League Gothic"/>
              </a:rPr>
              <a:t>Solution: Our End-to-End Pipeline</a:t>
            </a:r>
            <a:endParaRPr sz="6500">
              <a:solidFill>
                <a:srgbClr val="555C05"/>
              </a:solidFill>
              <a:latin typeface="League Gothic"/>
              <a:ea typeface="League Gothic"/>
              <a:cs typeface="League Gothic"/>
              <a:sym typeface="League Gothic"/>
            </a:endParaRPr>
          </a:p>
        </p:txBody>
      </p:sp>
      <p:grpSp>
        <p:nvGrpSpPr>
          <p:cNvPr id="209" name="Google Shape;209;p28"/>
          <p:cNvGrpSpPr/>
          <p:nvPr/>
        </p:nvGrpSpPr>
        <p:grpSpPr>
          <a:xfrm>
            <a:off x="0" y="-66900"/>
            <a:ext cx="691575" cy="752958"/>
            <a:chOff x="0" y="-47625"/>
            <a:chExt cx="754500" cy="860425"/>
          </a:xfrm>
        </p:grpSpPr>
        <p:sp>
          <p:nvSpPr>
            <p:cNvPr id="210" name="Google Shape;210;p28"/>
            <p:cNvSpPr/>
            <p:nvPr/>
          </p:nvSpPr>
          <p:spPr>
            <a:xfrm>
              <a:off x="0" y="0"/>
              <a:ext cx="754479" cy="812800"/>
            </a:xfrm>
            <a:custGeom>
              <a:rect b="b" l="l" r="r" t="t"/>
              <a:pathLst>
                <a:path extrusionOk="0" h="812800" w="754479">
                  <a:moveTo>
                    <a:pt x="0" y="0"/>
                  </a:moveTo>
                  <a:lnTo>
                    <a:pt x="754479" y="0"/>
                  </a:lnTo>
                  <a:lnTo>
                    <a:pt x="754479" y="812800"/>
                  </a:lnTo>
                  <a:lnTo>
                    <a:pt x="0" y="812800"/>
                  </a:lnTo>
                  <a:close/>
                </a:path>
              </a:pathLst>
            </a:custGeom>
            <a:solidFill>
              <a:srgbClr val="555C05"/>
            </a:solidFill>
            <a:ln>
              <a:noFill/>
            </a:ln>
          </p:spPr>
        </p:sp>
        <p:sp>
          <p:nvSpPr>
            <p:cNvPr id="211" name="Google Shape;211;p28"/>
            <p:cNvSpPr txBox="1"/>
            <p:nvPr/>
          </p:nvSpPr>
          <p:spPr>
            <a:xfrm>
              <a:off x="0" y="-47625"/>
              <a:ext cx="754500" cy="860400"/>
            </a:xfrm>
            <a:prstGeom prst="rect">
              <a:avLst/>
            </a:prstGeom>
            <a:noFill/>
            <a:ln>
              <a:noFill/>
            </a:ln>
          </p:spPr>
          <p:txBody>
            <a:bodyPr anchorCtr="0" anchor="ctr" bIns="27500" lIns="27500" spcFirstLastPara="1" rIns="27500" wrap="square" tIns="27500">
              <a:noAutofit/>
            </a:bodyPr>
            <a:lstStyle/>
            <a:p>
              <a:pPr indent="0" lvl="0" marL="0" marR="0" rtl="0" algn="ctr">
                <a:lnSpc>
                  <a:spcPct val="157833"/>
                </a:lnSpc>
                <a:spcBef>
                  <a:spcPts val="0"/>
                </a:spcBef>
                <a:spcAft>
                  <a:spcPts val="0"/>
                </a:spcAft>
                <a:buNone/>
              </a:pPr>
              <a:r>
                <a:t/>
              </a:r>
              <a:endParaRPr b="0" i="0" sz="974" u="none" cap="none" strike="noStrike">
                <a:solidFill>
                  <a:schemeClr val="dk1"/>
                </a:solidFill>
                <a:latin typeface="Calibri"/>
                <a:ea typeface="Calibri"/>
                <a:cs typeface="Calibri"/>
                <a:sym typeface="Calibri"/>
              </a:endParaRPr>
            </a:p>
          </p:txBody>
        </p:sp>
      </p:grpSp>
      <p:sp>
        <p:nvSpPr>
          <p:cNvPr id="212" name="Google Shape;212;p28"/>
          <p:cNvSpPr txBox="1"/>
          <p:nvPr/>
        </p:nvSpPr>
        <p:spPr>
          <a:xfrm>
            <a:off x="199900" y="149410"/>
            <a:ext cx="413100" cy="333600"/>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1" i="0" lang="en" sz="2166" u="none" cap="none" strike="noStrike">
                <a:solidFill>
                  <a:srgbClr val="F4F2F2"/>
                </a:solidFill>
                <a:latin typeface="Arial"/>
                <a:ea typeface="Arial"/>
                <a:cs typeface="Arial"/>
                <a:sym typeface="Arial"/>
              </a:rPr>
              <a:t>03</a:t>
            </a:r>
            <a:endParaRPr sz="758"/>
          </a:p>
        </p:txBody>
      </p:sp>
      <p:sp>
        <p:nvSpPr>
          <p:cNvPr id="213" name="Google Shape;213;p28"/>
          <p:cNvSpPr txBox="1"/>
          <p:nvPr/>
        </p:nvSpPr>
        <p:spPr>
          <a:xfrm>
            <a:off x="6862075" y="1786925"/>
            <a:ext cx="1990200" cy="31215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1200"/>
              </a:spcBef>
              <a:spcAft>
                <a:spcPts val="0"/>
              </a:spcAft>
              <a:buClr>
                <a:schemeClr val="lt1"/>
              </a:buClr>
              <a:buSzPts val="1100"/>
              <a:buFont typeface="Roboto Serif"/>
              <a:buChar char="-"/>
            </a:pPr>
            <a:r>
              <a:rPr b="1" lang="en" sz="1100">
                <a:solidFill>
                  <a:schemeClr val="lt1"/>
                </a:solidFill>
                <a:latin typeface="Roboto Serif"/>
                <a:ea typeface="Roboto Serif"/>
                <a:cs typeface="Roboto Serif"/>
                <a:sym typeface="Roboto Serif"/>
              </a:rPr>
              <a:t>Q</a:t>
            </a:r>
            <a:r>
              <a:rPr b="1" lang="en" sz="1100">
                <a:solidFill>
                  <a:schemeClr val="lt1"/>
                </a:solidFill>
                <a:latin typeface="Roboto Serif"/>
                <a:ea typeface="Roboto Serif"/>
                <a:cs typeface="Roboto Serif"/>
                <a:sym typeface="Roboto Serif"/>
              </a:rPr>
              <a:t>uerying</a:t>
            </a:r>
            <a:r>
              <a:rPr lang="en" sz="1100">
                <a:solidFill>
                  <a:schemeClr val="lt1"/>
                </a:solidFill>
                <a:latin typeface="Roboto Serif"/>
                <a:ea typeface="Roboto Serif"/>
                <a:cs typeface="Roboto Serif"/>
                <a:sym typeface="Roboto Serif"/>
              </a:rPr>
              <a:t> the processed tables using sql to get relevant data</a:t>
            </a:r>
            <a:endParaRPr sz="1100">
              <a:solidFill>
                <a:schemeClr val="lt1"/>
              </a:solidFill>
              <a:latin typeface="Roboto Serif"/>
              <a:ea typeface="Roboto Serif"/>
              <a:cs typeface="Roboto Serif"/>
              <a:sym typeface="Roboto Serif"/>
            </a:endParaRPr>
          </a:p>
          <a:p>
            <a:pPr indent="0" lvl="0" marL="0" rtl="0" algn="l">
              <a:lnSpc>
                <a:spcPct val="115000"/>
              </a:lnSpc>
              <a:spcBef>
                <a:spcPts val="1200"/>
              </a:spcBef>
              <a:spcAft>
                <a:spcPts val="0"/>
              </a:spcAft>
              <a:buNone/>
            </a:pPr>
            <a:r>
              <a:t/>
            </a:r>
            <a:endParaRPr sz="1100">
              <a:solidFill>
                <a:schemeClr val="lt1"/>
              </a:solidFill>
              <a:latin typeface="Roboto Serif"/>
              <a:ea typeface="Roboto Serif"/>
              <a:cs typeface="Roboto Serif"/>
              <a:sym typeface="Roboto Serif"/>
            </a:endParaRPr>
          </a:p>
          <a:p>
            <a:pPr indent="-298450" lvl="0" marL="457200" rtl="0" algn="l">
              <a:lnSpc>
                <a:spcPct val="115000"/>
              </a:lnSpc>
              <a:spcBef>
                <a:spcPts val="1200"/>
              </a:spcBef>
              <a:spcAft>
                <a:spcPts val="0"/>
              </a:spcAft>
              <a:buClr>
                <a:schemeClr val="lt1"/>
              </a:buClr>
              <a:buSzPts val="1100"/>
              <a:buFont typeface="Roboto Serif"/>
              <a:buChar char="-"/>
            </a:pPr>
            <a:r>
              <a:rPr lang="en" sz="1100">
                <a:solidFill>
                  <a:schemeClr val="lt1"/>
                </a:solidFill>
                <a:latin typeface="Roboto Serif"/>
                <a:ea typeface="Roboto Serif"/>
                <a:cs typeface="Roboto Serif"/>
                <a:sym typeface="Roboto Serif"/>
              </a:rPr>
              <a:t>Use </a:t>
            </a:r>
            <a:r>
              <a:rPr b="1" lang="en" sz="1100">
                <a:solidFill>
                  <a:schemeClr val="lt1"/>
                </a:solidFill>
                <a:latin typeface="Roboto Serif"/>
                <a:ea typeface="Roboto Serif"/>
                <a:cs typeface="Roboto Serif"/>
                <a:sym typeface="Roboto Serif"/>
              </a:rPr>
              <a:t>HTML</a:t>
            </a:r>
            <a:r>
              <a:rPr lang="en" sz="1100">
                <a:solidFill>
                  <a:schemeClr val="lt1"/>
                </a:solidFill>
                <a:latin typeface="Roboto Serif"/>
                <a:ea typeface="Roboto Serif"/>
                <a:cs typeface="Roboto Serif"/>
                <a:sym typeface="Roboto Serif"/>
              </a:rPr>
              <a:t> and </a:t>
            </a:r>
            <a:r>
              <a:rPr b="1" lang="en" sz="1100">
                <a:solidFill>
                  <a:schemeClr val="lt1"/>
                </a:solidFill>
                <a:latin typeface="Roboto Serif"/>
                <a:ea typeface="Roboto Serif"/>
                <a:cs typeface="Roboto Serif"/>
                <a:sym typeface="Roboto Serif"/>
              </a:rPr>
              <a:t>Folium </a:t>
            </a:r>
            <a:r>
              <a:rPr lang="en" sz="1100">
                <a:solidFill>
                  <a:schemeClr val="lt1"/>
                </a:solidFill>
                <a:latin typeface="Roboto Serif"/>
                <a:ea typeface="Roboto Serif"/>
                <a:cs typeface="Roboto Serif"/>
                <a:sym typeface="Roboto Serif"/>
              </a:rPr>
              <a:t>to map bird location with layer for interactive maps</a:t>
            </a:r>
            <a:br>
              <a:rPr lang="en" sz="1100">
                <a:solidFill>
                  <a:schemeClr val="lt1"/>
                </a:solidFill>
                <a:latin typeface="Roboto Serif"/>
                <a:ea typeface="Roboto Serif"/>
                <a:cs typeface="Roboto Serif"/>
                <a:sym typeface="Roboto Serif"/>
              </a:rPr>
            </a:br>
            <a:endParaRPr sz="1100">
              <a:solidFill>
                <a:schemeClr val="lt1"/>
              </a:solidFill>
              <a:latin typeface="Roboto Serif"/>
              <a:ea typeface="Roboto Serif"/>
              <a:cs typeface="Roboto Serif"/>
              <a:sym typeface="Roboto Serif"/>
            </a:endParaRPr>
          </a:p>
          <a:p>
            <a:pPr indent="0" lvl="0" marL="914400" rtl="0" algn="l">
              <a:lnSpc>
                <a:spcPct val="115000"/>
              </a:lnSpc>
              <a:spcBef>
                <a:spcPts val="1200"/>
              </a:spcBef>
              <a:spcAft>
                <a:spcPts val="0"/>
              </a:spcAft>
              <a:buNone/>
            </a:pPr>
            <a:br>
              <a:rPr lang="en" sz="1100">
                <a:solidFill>
                  <a:schemeClr val="lt1"/>
                </a:solidFill>
                <a:latin typeface="Roboto Serif"/>
                <a:ea typeface="Roboto Serif"/>
                <a:cs typeface="Roboto Serif"/>
                <a:sym typeface="Roboto Serif"/>
              </a:rPr>
            </a:br>
            <a:endParaRPr sz="1100">
              <a:solidFill>
                <a:schemeClr val="lt1"/>
              </a:solidFill>
              <a:latin typeface="Roboto Serif"/>
              <a:ea typeface="Roboto Serif"/>
              <a:cs typeface="Roboto Serif"/>
              <a:sym typeface="Roboto Serif"/>
            </a:endParaRPr>
          </a:p>
          <a:p>
            <a:pPr indent="0" lvl="0" marL="457200" marR="0" rtl="0" algn="l">
              <a:lnSpc>
                <a:spcPct val="139916"/>
              </a:lnSpc>
              <a:spcBef>
                <a:spcPts val="1200"/>
              </a:spcBef>
              <a:spcAft>
                <a:spcPts val="0"/>
              </a:spcAft>
              <a:buNone/>
            </a:pPr>
            <a:r>
              <a:rPr i="0" lang="en" sz="1100" u="none" cap="none" strike="noStrike">
                <a:solidFill>
                  <a:schemeClr val="lt1"/>
                </a:solidFill>
                <a:latin typeface="Roboto Serif"/>
                <a:ea typeface="Roboto Serif"/>
                <a:cs typeface="Roboto Serif"/>
                <a:sym typeface="Roboto Serif"/>
              </a:rPr>
              <a:t> </a:t>
            </a:r>
            <a:endParaRPr sz="1100">
              <a:solidFill>
                <a:schemeClr val="lt1"/>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7" name="Shape 217"/>
        <p:cNvGrpSpPr/>
        <p:nvPr/>
      </p:nvGrpSpPr>
      <p:grpSpPr>
        <a:xfrm>
          <a:off x="0" y="0"/>
          <a:ext cx="0" cy="0"/>
          <a:chOff x="0" y="0"/>
          <a:chExt cx="0" cy="0"/>
        </a:xfrm>
      </p:grpSpPr>
      <p:grpSp>
        <p:nvGrpSpPr>
          <p:cNvPr id="218" name="Google Shape;218;p29"/>
          <p:cNvGrpSpPr/>
          <p:nvPr/>
        </p:nvGrpSpPr>
        <p:grpSpPr>
          <a:xfrm>
            <a:off x="5266950" y="1578910"/>
            <a:ext cx="3278544" cy="527048"/>
            <a:chOff x="0" y="-47625"/>
            <a:chExt cx="886692" cy="237945"/>
          </a:xfrm>
        </p:grpSpPr>
        <p:sp>
          <p:nvSpPr>
            <p:cNvPr id="219" name="Google Shape;219;p29"/>
            <p:cNvSpPr/>
            <p:nvPr/>
          </p:nvSpPr>
          <p:spPr>
            <a:xfrm>
              <a:off x="0" y="0"/>
              <a:ext cx="886692" cy="190320"/>
            </a:xfrm>
            <a:custGeom>
              <a:rect b="b" l="l" r="r" t="t"/>
              <a:pathLst>
                <a:path extrusionOk="0" h="190320" w="886692">
                  <a:moveTo>
                    <a:pt x="0" y="0"/>
                  </a:moveTo>
                  <a:lnTo>
                    <a:pt x="886692" y="0"/>
                  </a:lnTo>
                  <a:lnTo>
                    <a:pt x="886692" y="190320"/>
                  </a:lnTo>
                  <a:lnTo>
                    <a:pt x="0" y="190320"/>
                  </a:lnTo>
                  <a:close/>
                </a:path>
              </a:pathLst>
            </a:custGeom>
            <a:solidFill>
              <a:srgbClr val="535B29"/>
            </a:solidFill>
            <a:ln>
              <a:noFill/>
            </a:ln>
          </p:spPr>
        </p:sp>
        <p:sp>
          <p:nvSpPr>
            <p:cNvPr id="220" name="Google Shape;220;p29"/>
            <p:cNvSpPr txBox="1"/>
            <p:nvPr/>
          </p:nvSpPr>
          <p:spPr>
            <a:xfrm>
              <a:off x="0" y="-47625"/>
              <a:ext cx="886692" cy="237945"/>
            </a:xfrm>
            <a:prstGeom prst="rect">
              <a:avLst/>
            </a:prstGeom>
            <a:noFill/>
            <a:ln>
              <a:noFill/>
            </a:ln>
          </p:spPr>
          <p:txBody>
            <a:bodyPr anchorCtr="0" anchor="ctr" bIns="25400" lIns="25400" spcFirstLastPara="1" rIns="25400" wrap="square" tIns="254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21" name="Google Shape;221;p29"/>
          <p:cNvGrpSpPr/>
          <p:nvPr/>
        </p:nvGrpSpPr>
        <p:grpSpPr>
          <a:xfrm>
            <a:off x="5266950" y="3121176"/>
            <a:ext cx="3278544" cy="527048"/>
            <a:chOff x="0" y="-47625"/>
            <a:chExt cx="886692" cy="237945"/>
          </a:xfrm>
        </p:grpSpPr>
        <p:sp>
          <p:nvSpPr>
            <p:cNvPr id="222" name="Google Shape;222;p29"/>
            <p:cNvSpPr/>
            <p:nvPr/>
          </p:nvSpPr>
          <p:spPr>
            <a:xfrm>
              <a:off x="0" y="0"/>
              <a:ext cx="886692" cy="190320"/>
            </a:xfrm>
            <a:custGeom>
              <a:rect b="b" l="l" r="r" t="t"/>
              <a:pathLst>
                <a:path extrusionOk="0" h="190320" w="886692">
                  <a:moveTo>
                    <a:pt x="0" y="0"/>
                  </a:moveTo>
                  <a:lnTo>
                    <a:pt x="886692" y="0"/>
                  </a:lnTo>
                  <a:lnTo>
                    <a:pt x="886692" y="190320"/>
                  </a:lnTo>
                  <a:lnTo>
                    <a:pt x="0" y="190320"/>
                  </a:lnTo>
                  <a:close/>
                </a:path>
              </a:pathLst>
            </a:custGeom>
            <a:solidFill>
              <a:srgbClr val="535B29"/>
            </a:solidFill>
            <a:ln>
              <a:noFill/>
            </a:ln>
          </p:spPr>
        </p:sp>
        <p:sp>
          <p:nvSpPr>
            <p:cNvPr id="223" name="Google Shape;223;p29"/>
            <p:cNvSpPr txBox="1"/>
            <p:nvPr/>
          </p:nvSpPr>
          <p:spPr>
            <a:xfrm>
              <a:off x="0" y="-47625"/>
              <a:ext cx="886692" cy="237945"/>
            </a:xfrm>
            <a:prstGeom prst="rect">
              <a:avLst/>
            </a:prstGeom>
            <a:noFill/>
            <a:ln>
              <a:noFill/>
            </a:ln>
          </p:spPr>
          <p:txBody>
            <a:bodyPr anchorCtr="0" anchor="ctr" bIns="25400" lIns="25400" spcFirstLastPara="1" rIns="25400" wrap="square" tIns="254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24" name="Google Shape;224;p29"/>
          <p:cNvGrpSpPr/>
          <p:nvPr/>
        </p:nvGrpSpPr>
        <p:grpSpPr>
          <a:xfrm>
            <a:off x="1657086" y="-90413"/>
            <a:ext cx="1543050" cy="5233913"/>
            <a:chOff x="0" y="-47625"/>
            <a:chExt cx="812800" cy="2756958"/>
          </a:xfrm>
        </p:grpSpPr>
        <p:sp>
          <p:nvSpPr>
            <p:cNvPr id="225" name="Google Shape;225;p29"/>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35B29"/>
            </a:solidFill>
            <a:ln>
              <a:noFill/>
            </a:ln>
          </p:spPr>
        </p:sp>
        <p:sp>
          <p:nvSpPr>
            <p:cNvPr id="226" name="Google Shape;226;p29"/>
            <p:cNvSpPr txBox="1"/>
            <p:nvPr/>
          </p:nvSpPr>
          <p:spPr>
            <a:xfrm>
              <a:off x="0" y="-47625"/>
              <a:ext cx="812800" cy="2756958"/>
            </a:xfrm>
            <a:prstGeom prst="rect">
              <a:avLst/>
            </a:prstGeom>
            <a:noFill/>
            <a:ln>
              <a:noFill/>
            </a:ln>
          </p:spPr>
          <p:txBody>
            <a:bodyPr anchorCtr="0" anchor="ctr" bIns="25400" lIns="25400" spcFirstLastPara="1" rIns="25400" wrap="square" tIns="254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27" name="Google Shape;227;p29"/>
          <p:cNvSpPr/>
          <p:nvPr/>
        </p:nvSpPr>
        <p:spPr>
          <a:xfrm>
            <a:off x="514350" y="2002770"/>
            <a:ext cx="2922670" cy="2626380"/>
          </a:xfrm>
          <a:custGeom>
            <a:rect b="b" l="l" r="r" t="t"/>
            <a:pathLst>
              <a:path extrusionOk="0" h="813790" w="905596">
                <a:moveTo>
                  <a:pt x="0" y="0"/>
                </a:moveTo>
                <a:lnTo>
                  <a:pt x="905596" y="0"/>
                </a:lnTo>
                <a:lnTo>
                  <a:pt x="905596" y="813790"/>
                </a:lnTo>
                <a:lnTo>
                  <a:pt x="0" y="813790"/>
                </a:lnTo>
                <a:close/>
              </a:path>
            </a:pathLst>
          </a:custGeom>
          <a:blipFill rotWithShape="1">
            <a:blip r:embed="rId3">
              <a:alphaModFix/>
            </a:blip>
            <a:stretch>
              <a:fillRect b="0" l="-17690" r="-17690" t="0"/>
            </a:stretch>
          </a:blipFill>
          <a:ln>
            <a:noFill/>
          </a:ln>
        </p:spPr>
      </p:sp>
      <p:grpSp>
        <p:nvGrpSpPr>
          <p:cNvPr id="228" name="Google Shape;228;p29"/>
          <p:cNvGrpSpPr/>
          <p:nvPr/>
        </p:nvGrpSpPr>
        <p:grpSpPr>
          <a:xfrm>
            <a:off x="2134137" y="649124"/>
            <a:ext cx="2605765" cy="2588199"/>
            <a:chOff x="0" y="-47625"/>
            <a:chExt cx="1372584" cy="1363331"/>
          </a:xfrm>
        </p:grpSpPr>
        <p:sp>
          <p:nvSpPr>
            <p:cNvPr id="229" name="Google Shape;229;p29"/>
            <p:cNvSpPr/>
            <p:nvPr/>
          </p:nvSpPr>
          <p:spPr>
            <a:xfrm>
              <a:off x="0" y="0"/>
              <a:ext cx="1372584" cy="1315706"/>
            </a:xfrm>
            <a:custGeom>
              <a:rect b="b" l="l" r="r" t="t"/>
              <a:pathLst>
                <a:path extrusionOk="0" h="1315706" w="1372584">
                  <a:moveTo>
                    <a:pt x="0" y="0"/>
                  </a:moveTo>
                  <a:lnTo>
                    <a:pt x="1372584" y="0"/>
                  </a:lnTo>
                  <a:lnTo>
                    <a:pt x="1372584" y="1315706"/>
                  </a:lnTo>
                  <a:lnTo>
                    <a:pt x="0" y="1315706"/>
                  </a:lnTo>
                  <a:close/>
                </a:path>
              </a:pathLst>
            </a:custGeom>
            <a:solidFill>
              <a:srgbClr val="FFFFFF"/>
            </a:solidFill>
            <a:ln cap="sq" cmpd="sng" w="19050">
              <a:solidFill>
                <a:srgbClr val="535B29"/>
              </a:solidFill>
              <a:prstDash val="solid"/>
              <a:miter lim="8000"/>
              <a:headEnd len="sm" w="sm" type="none"/>
              <a:tailEnd len="sm" w="sm" type="none"/>
            </a:ln>
          </p:spPr>
        </p:sp>
        <p:sp>
          <p:nvSpPr>
            <p:cNvPr id="230" name="Google Shape;230;p29"/>
            <p:cNvSpPr txBox="1"/>
            <p:nvPr/>
          </p:nvSpPr>
          <p:spPr>
            <a:xfrm>
              <a:off x="0" y="-47625"/>
              <a:ext cx="1372584" cy="1363331"/>
            </a:xfrm>
            <a:prstGeom prst="rect">
              <a:avLst/>
            </a:prstGeom>
            <a:noFill/>
            <a:ln>
              <a:noFill/>
            </a:ln>
          </p:spPr>
          <p:txBody>
            <a:bodyPr anchorCtr="0" anchor="ctr" bIns="25400" lIns="25400" spcFirstLastPara="1" rIns="25400" wrap="square" tIns="254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31" name="Google Shape;231;p29"/>
          <p:cNvSpPr/>
          <p:nvPr/>
        </p:nvSpPr>
        <p:spPr>
          <a:xfrm>
            <a:off x="2295955" y="886695"/>
            <a:ext cx="2282129" cy="2203470"/>
          </a:xfrm>
          <a:custGeom>
            <a:rect b="b" l="l" r="r" t="t"/>
            <a:pathLst>
              <a:path extrusionOk="0" h="682750" w="707123">
                <a:moveTo>
                  <a:pt x="0" y="0"/>
                </a:moveTo>
                <a:lnTo>
                  <a:pt x="707123" y="0"/>
                </a:lnTo>
                <a:lnTo>
                  <a:pt x="707123" y="682750"/>
                </a:lnTo>
                <a:lnTo>
                  <a:pt x="0" y="682750"/>
                </a:lnTo>
                <a:close/>
              </a:path>
            </a:pathLst>
          </a:custGeom>
          <a:blipFill rotWithShape="1">
            <a:blip r:embed="rId4">
              <a:alphaModFix/>
            </a:blip>
            <a:stretch>
              <a:fillRect b="-1783" l="0" r="0" t="-1783"/>
            </a:stretch>
          </a:blipFill>
          <a:ln>
            <a:noFill/>
          </a:ln>
        </p:spPr>
      </p:sp>
      <p:sp>
        <p:nvSpPr>
          <p:cNvPr id="232" name="Google Shape;232;p29"/>
          <p:cNvSpPr txBox="1"/>
          <p:nvPr/>
        </p:nvSpPr>
        <p:spPr>
          <a:xfrm>
            <a:off x="578756" y="256364"/>
            <a:ext cx="526062" cy="13811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800" u="none" cap="none" strike="noStrike">
                <a:solidFill>
                  <a:srgbClr val="FFFFFF"/>
                </a:solidFill>
                <a:latin typeface="Work Sans"/>
                <a:ea typeface="Work Sans"/>
                <a:cs typeface="Work Sans"/>
                <a:sym typeface="Work Sans"/>
              </a:rPr>
              <a:t>Search</a:t>
            </a:r>
            <a:endParaRPr sz="700"/>
          </a:p>
        </p:txBody>
      </p:sp>
      <p:sp>
        <p:nvSpPr>
          <p:cNvPr id="233" name="Google Shape;233;p29"/>
          <p:cNvSpPr txBox="1"/>
          <p:nvPr/>
        </p:nvSpPr>
        <p:spPr>
          <a:xfrm>
            <a:off x="5263400" y="487224"/>
            <a:ext cx="3611700" cy="992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SzPts val="1100"/>
              <a:buNone/>
            </a:pPr>
            <a:r>
              <a:rPr lang="en" sz="3000">
                <a:solidFill>
                  <a:srgbClr val="555C05"/>
                </a:solidFill>
                <a:latin typeface="League Gothic"/>
                <a:ea typeface="League Gothic"/>
                <a:cs typeface="League Gothic"/>
                <a:sym typeface="League Gothic"/>
              </a:rPr>
              <a:t>Delivering Value: How Our Pipeline Serves Different Birdwatchers</a:t>
            </a:r>
            <a:endParaRPr sz="3000">
              <a:solidFill>
                <a:srgbClr val="555C05"/>
              </a:solidFill>
              <a:latin typeface="League Gothic"/>
              <a:ea typeface="League Gothic"/>
              <a:cs typeface="League Gothic"/>
              <a:sym typeface="League Gothic"/>
            </a:endParaRPr>
          </a:p>
        </p:txBody>
      </p:sp>
      <p:sp>
        <p:nvSpPr>
          <p:cNvPr id="234" name="Google Shape;234;p29"/>
          <p:cNvSpPr txBox="1"/>
          <p:nvPr/>
        </p:nvSpPr>
        <p:spPr>
          <a:xfrm>
            <a:off x="5464319" y="1793408"/>
            <a:ext cx="2815500" cy="246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1600" u="none" cap="none" strike="noStrike">
                <a:solidFill>
                  <a:srgbClr val="FFFFFF"/>
                </a:solidFill>
                <a:latin typeface="Work Sans"/>
                <a:ea typeface="Work Sans"/>
                <a:cs typeface="Work Sans"/>
                <a:sym typeface="Work Sans"/>
              </a:rPr>
              <a:t>01</a:t>
            </a:r>
            <a:r>
              <a:rPr b="1" lang="en" sz="1600">
                <a:solidFill>
                  <a:srgbClr val="FFFFFF"/>
                </a:solidFill>
                <a:latin typeface="Work Sans"/>
                <a:ea typeface="Work Sans"/>
                <a:cs typeface="Work Sans"/>
                <a:sym typeface="Work Sans"/>
              </a:rPr>
              <a:t>.</a:t>
            </a:r>
            <a:r>
              <a:rPr b="1" i="0" lang="en" sz="1600" u="none" cap="none" strike="noStrike">
                <a:solidFill>
                  <a:srgbClr val="FFFFFF"/>
                </a:solidFill>
                <a:latin typeface="Work Sans"/>
                <a:ea typeface="Work Sans"/>
                <a:cs typeface="Work Sans"/>
                <a:sym typeface="Work Sans"/>
              </a:rPr>
              <a:t> </a:t>
            </a:r>
            <a:r>
              <a:rPr b="1" lang="en" sz="1600">
                <a:solidFill>
                  <a:srgbClr val="FFFFFF"/>
                </a:solidFill>
                <a:latin typeface="Work Sans"/>
                <a:ea typeface="Work Sans"/>
                <a:cs typeface="Work Sans"/>
                <a:sym typeface="Work Sans"/>
              </a:rPr>
              <a:t>Casual Birdwatcher</a:t>
            </a:r>
            <a:endParaRPr sz="1600">
              <a:latin typeface="Work Sans"/>
              <a:ea typeface="Work Sans"/>
              <a:cs typeface="Work Sans"/>
              <a:sym typeface="Work Sans"/>
            </a:endParaRPr>
          </a:p>
        </p:txBody>
      </p:sp>
      <p:sp>
        <p:nvSpPr>
          <p:cNvPr id="235" name="Google Shape;235;p29"/>
          <p:cNvSpPr txBox="1"/>
          <p:nvPr/>
        </p:nvSpPr>
        <p:spPr>
          <a:xfrm>
            <a:off x="4955250" y="2125624"/>
            <a:ext cx="4188600" cy="1389900"/>
          </a:xfrm>
          <a:prstGeom prst="rect">
            <a:avLst/>
          </a:prstGeom>
          <a:noFill/>
          <a:ln>
            <a:noFill/>
          </a:ln>
        </p:spPr>
        <p:txBody>
          <a:bodyPr anchorCtr="0" anchor="t" bIns="0" lIns="0" spcFirstLastPara="1" rIns="0" wrap="square" tIns="0">
            <a:spAutoFit/>
          </a:bodyPr>
          <a:lstStyle/>
          <a:p>
            <a:pPr indent="-311150" lvl="0" marL="457200" rtl="0" algn="l">
              <a:lnSpc>
                <a:spcPct val="115000"/>
              </a:lnSpc>
              <a:spcBef>
                <a:spcPts val="1200"/>
              </a:spcBef>
              <a:spcAft>
                <a:spcPts val="0"/>
              </a:spcAft>
              <a:buClr>
                <a:schemeClr val="dk1"/>
              </a:buClr>
              <a:buSzPts val="1300"/>
              <a:buChar char="●"/>
            </a:pPr>
            <a:r>
              <a:rPr b="1" lang="en" sz="1000">
                <a:latin typeface="Work Sans"/>
                <a:ea typeface="Work Sans"/>
                <a:cs typeface="Work Sans"/>
                <a:sym typeface="Work Sans"/>
              </a:rPr>
              <a:t>Goal</a:t>
            </a:r>
            <a:r>
              <a:rPr lang="en" sz="1000">
                <a:latin typeface="Work Sans"/>
                <a:ea typeface="Work Sans"/>
                <a:cs typeface="Work Sans"/>
                <a:sym typeface="Work Sans"/>
              </a:rPr>
              <a:t>: User-oriented, easy to use, straightforward, interactive</a:t>
            </a:r>
            <a:endParaRPr sz="1000">
              <a:latin typeface="Work Sans"/>
              <a:ea typeface="Work Sans"/>
              <a:cs typeface="Work Sans"/>
              <a:sym typeface="Work Sans"/>
            </a:endParaRPr>
          </a:p>
          <a:p>
            <a:pPr indent="-311150" lvl="0" marL="457200" rtl="0" algn="l">
              <a:lnSpc>
                <a:spcPct val="115000"/>
              </a:lnSpc>
              <a:spcBef>
                <a:spcPts val="0"/>
              </a:spcBef>
              <a:spcAft>
                <a:spcPts val="0"/>
              </a:spcAft>
              <a:buClr>
                <a:schemeClr val="dk1"/>
              </a:buClr>
              <a:buSzPts val="1300"/>
              <a:buChar char="●"/>
            </a:pPr>
            <a:r>
              <a:rPr lang="en" sz="1000">
                <a:latin typeface="Work Sans"/>
                <a:ea typeface="Work Sans"/>
                <a:cs typeface="Work Sans"/>
                <a:sym typeface="Work Sans"/>
              </a:rPr>
              <a:t>Quickly check local birds by state or species</a:t>
            </a:r>
            <a:endParaRPr sz="1000">
              <a:latin typeface="Work Sans"/>
              <a:ea typeface="Work Sans"/>
              <a:cs typeface="Work Sans"/>
              <a:sym typeface="Work Sans"/>
            </a:endParaRPr>
          </a:p>
          <a:p>
            <a:pPr indent="-311150" lvl="0" marL="457200" rtl="0" algn="l">
              <a:lnSpc>
                <a:spcPct val="115000"/>
              </a:lnSpc>
              <a:spcBef>
                <a:spcPts val="0"/>
              </a:spcBef>
              <a:spcAft>
                <a:spcPts val="0"/>
              </a:spcAft>
              <a:buClr>
                <a:schemeClr val="dk1"/>
              </a:buClr>
              <a:buSzPts val="1300"/>
              <a:buChar char="●"/>
            </a:pPr>
            <a:r>
              <a:rPr lang="en" sz="1000">
                <a:latin typeface="Work Sans"/>
                <a:ea typeface="Work Sans"/>
                <a:cs typeface="Work Sans"/>
                <a:sym typeface="Work Sans"/>
              </a:rPr>
              <a:t>View scatterplots of sightings across the U.S.</a:t>
            </a:r>
            <a:endParaRPr sz="1000">
              <a:latin typeface="Work Sans"/>
              <a:ea typeface="Work Sans"/>
              <a:cs typeface="Work Sans"/>
              <a:sym typeface="Work Sans"/>
            </a:endParaRPr>
          </a:p>
          <a:p>
            <a:pPr indent="-311150" lvl="0" marL="457200" rtl="0" algn="l">
              <a:lnSpc>
                <a:spcPct val="115000"/>
              </a:lnSpc>
              <a:spcBef>
                <a:spcPts val="0"/>
              </a:spcBef>
              <a:spcAft>
                <a:spcPts val="0"/>
              </a:spcAft>
              <a:buClr>
                <a:schemeClr val="dk1"/>
              </a:buClr>
              <a:buSzPts val="1300"/>
              <a:buChar char="●"/>
            </a:pPr>
            <a:r>
              <a:rPr lang="en" sz="1000">
                <a:solidFill>
                  <a:schemeClr val="dk1"/>
                </a:solidFill>
                <a:latin typeface="Work Sans"/>
                <a:ea typeface="Work Sans"/>
                <a:cs typeface="Work Sans"/>
                <a:sym typeface="Work Sans"/>
              </a:rPr>
              <a:t>View</a:t>
            </a:r>
            <a:r>
              <a:rPr lang="en" sz="1000">
                <a:latin typeface="Work Sans"/>
                <a:ea typeface="Work Sans"/>
                <a:cs typeface="Work Sans"/>
                <a:sym typeface="Work Sans"/>
              </a:rPr>
              <a:t> p</a:t>
            </a:r>
            <a:r>
              <a:rPr lang="en" sz="1000">
                <a:latin typeface="Work Sans"/>
                <a:ea typeface="Work Sans"/>
                <a:cs typeface="Work Sans"/>
                <a:sym typeface="Work Sans"/>
              </a:rPr>
              <a:t>redict key hotspots for bird sights in 7 days</a:t>
            </a:r>
            <a:endParaRPr sz="1000">
              <a:latin typeface="Work Sans"/>
              <a:ea typeface="Work Sans"/>
              <a:cs typeface="Work Sans"/>
              <a:sym typeface="Work Sans"/>
            </a:endParaRPr>
          </a:p>
          <a:p>
            <a:pPr indent="0" lvl="0" marL="0" marR="0" rtl="0" algn="l">
              <a:lnSpc>
                <a:spcPct val="139916"/>
              </a:lnSpc>
              <a:spcBef>
                <a:spcPts val="1200"/>
              </a:spcBef>
              <a:spcAft>
                <a:spcPts val="0"/>
              </a:spcAft>
              <a:buNone/>
            </a:pPr>
            <a:r>
              <a:t/>
            </a:r>
            <a:endParaRPr sz="900">
              <a:latin typeface="Work Sans"/>
              <a:ea typeface="Work Sans"/>
              <a:cs typeface="Work Sans"/>
              <a:sym typeface="Work Sans"/>
            </a:endParaRPr>
          </a:p>
        </p:txBody>
      </p:sp>
      <p:sp>
        <p:nvSpPr>
          <p:cNvPr id="236" name="Google Shape;236;p29"/>
          <p:cNvSpPr txBox="1"/>
          <p:nvPr/>
        </p:nvSpPr>
        <p:spPr>
          <a:xfrm>
            <a:off x="5337600" y="3306699"/>
            <a:ext cx="3207900" cy="246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1600" u="none" cap="none" strike="noStrike">
                <a:solidFill>
                  <a:srgbClr val="FFFFFF"/>
                </a:solidFill>
                <a:latin typeface="Work Sans"/>
                <a:ea typeface="Work Sans"/>
                <a:cs typeface="Work Sans"/>
                <a:sym typeface="Work Sans"/>
              </a:rPr>
              <a:t>02. </a:t>
            </a:r>
            <a:r>
              <a:rPr b="1" lang="en" sz="1600">
                <a:solidFill>
                  <a:srgbClr val="FFFFFF"/>
                </a:solidFill>
                <a:latin typeface="Work Sans"/>
                <a:ea typeface="Work Sans"/>
                <a:cs typeface="Work Sans"/>
                <a:sym typeface="Work Sans"/>
              </a:rPr>
              <a:t>Professional Ornithologist</a:t>
            </a:r>
            <a:endParaRPr sz="1600">
              <a:latin typeface="Work Sans"/>
              <a:ea typeface="Work Sans"/>
              <a:cs typeface="Work Sans"/>
              <a:sym typeface="Work Sans"/>
            </a:endParaRPr>
          </a:p>
        </p:txBody>
      </p:sp>
      <p:sp>
        <p:nvSpPr>
          <p:cNvPr id="237" name="Google Shape;237;p29"/>
          <p:cNvSpPr txBox="1"/>
          <p:nvPr/>
        </p:nvSpPr>
        <p:spPr>
          <a:xfrm>
            <a:off x="4955250" y="3742450"/>
            <a:ext cx="3972600" cy="1582200"/>
          </a:xfrm>
          <a:prstGeom prst="rect">
            <a:avLst/>
          </a:prstGeom>
          <a:noFill/>
          <a:ln>
            <a:noFill/>
          </a:ln>
        </p:spPr>
        <p:txBody>
          <a:bodyPr anchorCtr="0" anchor="t" bIns="0" lIns="0" spcFirstLastPara="1" rIns="0" wrap="square" tIns="0">
            <a:spAutoFit/>
          </a:bodyPr>
          <a:lstStyle/>
          <a:p>
            <a:pPr indent="-311150" lvl="0" marL="457200" rtl="0" algn="l">
              <a:lnSpc>
                <a:spcPct val="115000"/>
              </a:lnSpc>
              <a:spcBef>
                <a:spcPts val="1200"/>
              </a:spcBef>
              <a:spcAft>
                <a:spcPts val="0"/>
              </a:spcAft>
              <a:buClr>
                <a:schemeClr val="dk1"/>
              </a:buClr>
              <a:buSzPts val="1300"/>
              <a:buChar char="●"/>
            </a:pPr>
            <a:r>
              <a:rPr b="1" lang="en" sz="1000">
                <a:latin typeface="Work Sans"/>
                <a:ea typeface="Work Sans"/>
                <a:cs typeface="Work Sans"/>
                <a:sym typeface="Work Sans"/>
              </a:rPr>
              <a:t>Goal</a:t>
            </a:r>
            <a:r>
              <a:rPr lang="en" sz="1000">
                <a:latin typeface="Work Sans"/>
                <a:ea typeface="Work Sans"/>
                <a:cs typeface="Work Sans"/>
                <a:sym typeface="Work Sans"/>
              </a:rPr>
              <a:t>: Scientific insights, tracking trends, complex analytical products, comparison</a:t>
            </a:r>
            <a:endParaRPr sz="1000">
              <a:latin typeface="Work Sans"/>
              <a:ea typeface="Work Sans"/>
              <a:cs typeface="Work Sans"/>
              <a:sym typeface="Work Sans"/>
            </a:endParaRPr>
          </a:p>
          <a:p>
            <a:pPr indent="-311150" lvl="0" marL="457200" rtl="0" algn="l">
              <a:lnSpc>
                <a:spcPct val="115000"/>
              </a:lnSpc>
              <a:spcBef>
                <a:spcPts val="0"/>
              </a:spcBef>
              <a:spcAft>
                <a:spcPts val="0"/>
              </a:spcAft>
              <a:buClr>
                <a:schemeClr val="dk1"/>
              </a:buClr>
              <a:buSzPts val="1300"/>
              <a:buChar char="●"/>
            </a:pPr>
            <a:r>
              <a:rPr lang="en" sz="1000">
                <a:latin typeface="Work Sans"/>
                <a:ea typeface="Work Sans"/>
                <a:cs typeface="Work Sans"/>
                <a:sym typeface="Work Sans"/>
              </a:rPr>
              <a:t>Identify rare or uncommon species in a region</a:t>
            </a:r>
            <a:endParaRPr sz="1000">
              <a:latin typeface="Work Sans"/>
              <a:ea typeface="Work Sans"/>
              <a:cs typeface="Work Sans"/>
              <a:sym typeface="Work Sans"/>
            </a:endParaRPr>
          </a:p>
          <a:p>
            <a:pPr indent="-311150" lvl="0" marL="457200" rtl="0" algn="l">
              <a:lnSpc>
                <a:spcPct val="115000"/>
              </a:lnSpc>
              <a:spcBef>
                <a:spcPts val="0"/>
              </a:spcBef>
              <a:spcAft>
                <a:spcPts val="0"/>
              </a:spcAft>
              <a:buClr>
                <a:schemeClr val="dk1"/>
              </a:buClr>
              <a:buSzPts val="1300"/>
              <a:buChar char="●"/>
            </a:pPr>
            <a:r>
              <a:rPr lang="en" sz="1000">
                <a:latin typeface="Work Sans"/>
                <a:ea typeface="Work Sans"/>
                <a:cs typeface="Work Sans"/>
                <a:sym typeface="Work Sans"/>
              </a:rPr>
              <a:t>Compare state-level density vs. national hotspots</a:t>
            </a:r>
            <a:endParaRPr sz="1000">
              <a:latin typeface="Work Sans"/>
              <a:ea typeface="Work Sans"/>
              <a:cs typeface="Work Sans"/>
              <a:sym typeface="Work Sans"/>
            </a:endParaRPr>
          </a:p>
          <a:p>
            <a:pPr indent="-311150" lvl="0" marL="457200" rtl="0" algn="l">
              <a:lnSpc>
                <a:spcPct val="115000"/>
              </a:lnSpc>
              <a:spcBef>
                <a:spcPts val="0"/>
              </a:spcBef>
              <a:spcAft>
                <a:spcPts val="0"/>
              </a:spcAft>
              <a:buClr>
                <a:schemeClr val="dk1"/>
              </a:buClr>
              <a:buSzPts val="1300"/>
              <a:buChar char="●"/>
            </a:pPr>
            <a:r>
              <a:rPr lang="en" sz="1000">
                <a:latin typeface="Work Sans"/>
                <a:ea typeface="Work Sans"/>
                <a:cs typeface="Work Sans"/>
                <a:sym typeface="Work Sans"/>
              </a:rPr>
              <a:t>Generate analytical maps and reports for research</a:t>
            </a:r>
            <a:br>
              <a:rPr lang="en" sz="1000">
                <a:latin typeface="Work Sans"/>
                <a:ea typeface="Work Sans"/>
                <a:cs typeface="Work Sans"/>
                <a:sym typeface="Work Sans"/>
              </a:rPr>
            </a:br>
            <a:endParaRPr sz="1000">
              <a:latin typeface="Work Sans"/>
              <a:ea typeface="Work Sans"/>
              <a:cs typeface="Work Sans"/>
              <a:sym typeface="Work Sans"/>
            </a:endParaRPr>
          </a:p>
          <a:p>
            <a:pPr indent="0" lvl="0" marL="0" marR="0" rtl="0" algn="l">
              <a:lnSpc>
                <a:spcPct val="139916"/>
              </a:lnSpc>
              <a:spcBef>
                <a:spcPts val="1200"/>
              </a:spcBef>
              <a:spcAft>
                <a:spcPts val="0"/>
              </a:spcAft>
              <a:buNone/>
            </a:pPr>
            <a:r>
              <a:t/>
            </a:r>
            <a:endParaRPr sz="1000">
              <a:latin typeface="Work Sans"/>
              <a:ea typeface="Work Sans"/>
              <a:cs typeface="Work Sans"/>
              <a:sym typeface="Work Sans"/>
            </a:endParaRPr>
          </a:p>
        </p:txBody>
      </p:sp>
      <p:sp>
        <p:nvSpPr>
          <p:cNvPr id="238" name="Google Shape;238;p29"/>
          <p:cNvSpPr txBox="1"/>
          <p:nvPr/>
        </p:nvSpPr>
        <p:spPr>
          <a:xfrm>
            <a:off x="8652325" y="165260"/>
            <a:ext cx="413100" cy="333600"/>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1" i="0" lang="en" sz="2166" u="none" cap="none" strike="noStrike">
                <a:solidFill>
                  <a:srgbClr val="555C05"/>
                </a:solidFill>
                <a:latin typeface="Arial"/>
                <a:ea typeface="Arial"/>
                <a:cs typeface="Arial"/>
                <a:sym typeface="Arial"/>
              </a:rPr>
              <a:t>04</a:t>
            </a:r>
            <a:endParaRPr b="1" sz="2166">
              <a:solidFill>
                <a:srgbClr val="555C05"/>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p:nvPr/>
        </p:nvSpPr>
        <p:spPr>
          <a:xfrm>
            <a:off x="0" y="0"/>
            <a:ext cx="3906945" cy="5143500"/>
          </a:xfrm>
          <a:custGeom>
            <a:rect b="b" l="l" r="r" t="t"/>
            <a:pathLst>
              <a:path extrusionOk="0" h="1593725" w="1210576">
                <a:moveTo>
                  <a:pt x="0" y="0"/>
                </a:moveTo>
                <a:lnTo>
                  <a:pt x="1210576" y="0"/>
                </a:lnTo>
                <a:lnTo>
                  <a:pt x="1210576" y="1593725"/>
                </a:lnTo>
                <a:lnTo>
                  <a:pt x="0" y="1593725"/>
                </a:lnTo>
                <a:close/>
              </a:path>
            </a:pathLst>
          </a:custGeom>
          <a:blipFill rotWithShape="1">
            <a:blip r:embed="rId3">
              <a:alphaModFix/>
            </a:blip>
            <a:stretch>
              <a:fillRect b="0" l="-44496" r="-52722" t="0"/>
            </a:stretch>
          </a:blipFill>
          <a:ln>
            <a:noFill/>
          </a:ln>
        </p:spPr>
      </p:sp>
      <p:grpSp>
        <p:nvGrpSpPr>
          <p:cNvPr id="244" name="Google Shape;244;p30"/>
          <p:cNvGrpSpPr/>
          <p:nvPr/>
        </p:nvGrpSpPr>
        <p:grpSpPr>
          <a:xfrm rot="10800000">
            <a:off x="0" y="2844948"/>
            <a:ext cx="3906945" cy="2370882"/>
            <a:chOff x="0" y="-38100"/>
            <a:chExt cx="2057979" cy="1248860"/>
          </a:xfrm>
        </p:grpSpPr>
        <p:sp>
          <p:nvSpPr>
            <p:cNvPr id="245" name="Google Shape;245;p30"/>
            <p:cNvSpPr/>
            <p:nvPr/>
          </p:nvSpPr>
          <p:spPr>
            <a:xfrm>
              <a:off x="0" y="0"/>
              <a:ext cx="2057979" cy="1210760"/>
            </a:xfrm>
            <a:custGeom>
              <a:rect b="b" l="l" r="r" t="t"/>
              <a:pathLst>
                <a:path extrusionOk="0" h="1210760" w="2057979">
                  <a:moveTo>
                    <a:pt x="0" y="0"/>
                  </a:moveTo>
                  <a:lnTo>
                    <a:pt x="2057979" y="0"/>
                  </a:lnTo>
                  <a:lnTo>
                    <a:pt x="2057979" y="1210760"/>
                  </a:lnTo>
                  <a:lnTo>
                    <a:pt x="0" y="1210760"/>
                  </a:lnTo>
                  <a:close/>
                </a:path>
              </a:pathLst>
            </a:custGeom>
            <a:gradFill>
              <a:gsLst>
                <a:gs pos="0">
                  <a:srgbClr val="535B29"/>
                </a:gs>
                <a:gs pos="100000">
                  <a:srgbClr val="535B29">
                    <a:alpha val="0"/>
                  </a:srgbClr>
                </a:gs>
              </a:gsLst>
              <a:lin ang="5400000" scaled="0"/>
            </a:gradFill>
            <a:ln>
              <a:noFill/>
            </a:ln>
          </p:spPr>
        </p:sp>
        <p:sp>
          <p:nvSpPr>
            <p:cNvPr id="246" name="Google Shape;246;p30"/>
            <p:cNvSpPr txBox="1"/>
            <p:nvPr/>
          </p:nvSpPr>
          <p:spPr>
            <a:xfrm>
              <a:off x="0" y="-38100"/>
              <a:ext cx="2057979" cy="124886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47" name="Google Shape;247;p30"/>
          <p:cNvGrpSpPr/>
          <p:nvPr/>
        </p:nvGrpSpPr>
        <p:grpSpPr>
          <a:xfrm>
            <a:off x="0" y="3510037"/>
            <a:ext cx="114761" cy="1633463"/>
            <a:chOff x="0" y="-47625"/>
            <a:chExt cx="60450" cy="860425"/>
          </a:xfrm>
        </p:grpSpPr>
        <p:sp>
          <p:nvSpPr>
            <p:cNvPr id="248" name="Google Shape;248;p30"/>
            <p:cNvSpPr/>
            <p:nvPr/>
          </p:nvSpPr>
          <p:spPr>
            <a:xfrm>
              <a:off x="0" y="0"/>
              <a:ext cx="60450" cy="812800"/>
            </a:xfrm>
            <a:custGeom>
              <a:rect b="b" l="l" r="r" t="t"/>
              <a:pathLst>
                <a:path extrusionOk="0" h="812800" w="60450">
                  <a:moveTo>
                    <a:pt x="0" y="0"/>
                  </a:moveTo>
                  <a:lnTo>
                    <a:pt x="60450" y="0"/>
                  </a:lnTo>
                  <a:lnTo>
                    <a:pt x="60450" y="812800"/>
                  </a:lnTo>
                  <a:lnTo>
                    <a:pt x="0" y="812800"/>
                  </a:lnTo>
                  <a:close/>
                </a:path>
              </a:pathLst>
            </a:custGeom>
            <a:solidFill>
              <a:srgbClr val="FFFFFF"/>
            </a:solidFill>
            <a:ln>
              <a:noFill/>
            </a:ln>
          </p:spPr>
        </p:sp>
        <p:sp>
          <p:nvSpPr>
            <p:cNvPr id="249" name="Google Shape;249;p30"/>
            <p:cNvSpPr txBox="1"/>
            <p:nvPr/>
          </p:nvSpPr>
          <p:spPr>
            <a:xfrm>
              <a:off x="0" y="-47625"/>
              <a:ext cx="60450" cy="860425"/>
            </a:xfrm>
            <a:prstGeom prst="rect">
              <a:avLst/>
            </a:prstGeom>
            <a:noFill/>
            <a:ln>
              <a:noFill/>
            </a:ln>
          </p:spPr>
          <p:txBody>
            <a:bodyPr anchorCtr="0" anchor="ctr" bIns="25400" lIns="25400" spcFirstLastPara="1" rIns="25400" wrap="square" tIns="254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50" name="Google Shape;250;p30"/>
          <p:cNvSpPr txBox="1"/>
          <p:nvPr/>
        </p:nvSpPr>
        <p:spPr>
          <a:xfrm>
            <a:off x="4572000" y="1355471"/>
            <a:ext cx="2951700" cy="708000"/>
          </a:xfrm>
          <a:prstGeom prst="rect">
            <a:avLst/>
          </a:prstGeom>
          <a:noFill/>
          <a:ln>
            <a:noFill/>
          </a:ln>
        </p:spPr>
        <p:txBody>
          <a:bodyPr anchorCtr="0" anchor="t" bIns="0" lIns="0" spcFirstLastPara="1" rIns="0" wrap="square" tIns="0">
            <a:spAutoFit/>
          </a:bodyPr>
          <a:lstStyle/>
          <a:p>
            <a:pPr indent="0" lvl="0" marL="0" marR="0" rtl="0" algn="l">
              <a:lnSpc>
                <a:spcPct val="139997"/>
              </a:lnSpc>
              <a:spcBef>
                <a:spcPts val="0"/>
              </a:spcBef>
              <a:spcAft>
                <a:spcPts val="0"/>
              </a:spcAft>
              <a:buNone/>
            </a:pPr>
            <a:r>
              <a:rPr b="1" lang="en" sz="4600">
                <a:solidFill>
                  <a:srgbClr val="535B29"/>
                </a:solidFill>
                <a:latin typeface="Inter"/>
                <a:ea typeface="Inter"/>
                <a:cs typeface="Inter"/>
                <a:sym typeface="Inter"/>
              </a:rPr>
              <a:t>Type I: </a:t>
            </a:r>
            <a:endParaRPr sz="700"/>
          </a:p>
        </p:txBody>
      </p:sp>
      <p:sp>
        <p:nvSpPr>
          <p:cNvPr id="251" name="Google Shape;251;p30"/>
          <p:cNvSpPr txBox="1"/>
          <p:nvPr/>
        </p:nvSpPr>
        <p:spPr>
          <a:xfrm>
            <a:off x="4572000" y="2166458"/>
            <a:ext cx="4382700" cy="461700"/>
          </a:xfrm>
          <a:prstGeom prst="rect">
            <a:avLst/>
          </a:prstGeom>
          <a:noFill/>
          <a:ln>
            <a:noFill/>
          </a:ln>
        </p:spPr>
        <p:txBody>
          <a:bodyPr anchorCtr="0" anchor="t" bIns="0" lIns="0" spcFirstLastPara="1" rIns="0" wrap="square" tIns="0">
            <a:spAutoFit/>
          </a:bodyPr>
          <a:lstStyle/>
          <a:p>
            <a:pPr indent="0" lvl="0" marL="0" marR="0" rtl="0" algn="l">
              <a:lnSpc>
                <a:spcPct val="139997"/>
              </a:lnSpc>
              <a:spcBef>
                <a:spcPts val="0"/>
              </a:spcBef>
              <a:spcAft>
                <a:spcPts val="0"/>
              </a:spcAft>
              <a:buNone/>
            </a:pPr>
            <a:r>
              <a:rPr b="1" lang="en" sz="3000">
                <a:solidFill>
                  <a:srgbClr val="535B29"/>
                </a:solidFill>
                <a:latin typeface="Beth Ellen"/>
                <a:ea typeface="Beth Ellen"/>
                <a:cs typeface="Beth Ellen"/>
                <a:sym typeface="Beth Ellen"/>
              </a:rPr>
              <a:t>Casual Birdwatcher</a:t>
            </a:r>
            <a:endParaRPr sz="3000">
              <a:latin typeface="Beth Ellen"/>
              <a:ea typeface="Beth Ellen"/>
              <a:cs typeface="Beth Ellen"/>
              <a:sym typeface="Beth Ellen"/>
            </a:endParaRPr>
          </a:p>
        </p:txBody>
      </p:sp>
      <p:grpSp>
        <p:nvGrpSpPr>
          <p:cNvPr id="252" name="Google Shape;252;p30"/>
          <p:cNvGrpSpPr/>
          <p:nvPr/>
        </p:nvGrpSpPr>
        <p:grpSpPr>
          <a:xfrm rot="5400000">
            <a:off x="759351" y="4269388"/>
            <a:ext cx="114761" cy="1633463"/>
            <a:chOff x="0" y="-47625"/>
            <a:chExt cx="60450" cy="860425"/>
          </a:xfrm>
        </p:grpSpPr>
        <p:sp>
          <p:nvSpPr>
            <p:cNvPr id="253" name="Google Shape;253;p30"/>
            <p:cNvSpPr/>
            <p:nvPr/>
          </p:nvSpPr>
          <p:spPr>
            <a:xfrm>
              <a:off x="0" y="0"/>
              <a:ext cx="60450" cy="812800"/>
            </a:xfrm>
            <a:custGeom>
              <a:rect b="b" l="l" r="r" t="t"/>
              <a:pathLst>
                <a:path extrusionOk="0" h="812800" w="60450">
                  <a:moveTo>
                    <a:pt x="0" y="0"/>
                  </a:moveTo>
                  <a:lnTo>
                    <a:pt x="60450" y="0"/>
                  </a:lnTo>
                  <a:lnTo>
                    <a:pt x="60450" y="812800"/>
                  </a:lnTo>
                  <a:lnTo>
                    <a:pt x="0" y="812800"/>
                  </a:lnTo>
                  <a:close/>
                </a:path>
              </a:pathLst>
            </a:custGeom>
            <a:solidFill>
              <a:srgbClr val="FFFFFF"/>
            </a:solidFill>
            <a:ln>
              <a:noFill/>
            </a:ln>
          </p:spPr>
        </p:sp>
        <p:sp>
          <p:nvSpPr>
            <p:cNvPr id="254" name="Google Shape;254;p30"/>
            <p:cNvSpPr txBox="1"/>
            <p:nvPr/>
          </p:nvSpPr>
          <p:spPr>
            <a:xfrm>
              <a:off x="0" y="-47625"/>
              <a:ext cx="60450" cy="860425"/>
            </a:xfrm>
            <a:prstGeom prst="rect">
              <a:avLst/>
            </a:prstGeom>
            <a:noFill/>
            <a:ln>
              <a:noFill/>
            </a:ln>
          </p:spPr>
          <p:txBody>
            <a:bodyPr anchorCtr="0" anchor="ctr" bIns="25400" lIns="25400" spcFirstLastPara="1" rIns="25400" wrap="square" tIns="254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55" name="Google Shape;255;p30"/>
          <p:cNvGrpSpPr/>
          <p:nvPr/>
        </p:nvGrpSpPr>
        <p:grpSpPr>
          <a:xfrm rot="5400000">
            <a:off x="3123246" y="-759351"/>
            <a:ext cx="114761" cy="1633463"/>
            <a:chOff x="0" y="-47625"/>
            <a:chExt cx="60450" cy="860425"/>
          </a:xfrm>
        </p:grpSpPr>
        <p:sp>
          <p:nvSpPr>
            <p:cNvPr id="256" name="Google Shape;256;p30"/>
            <p:cNvSpPr/>
            <p:nvPr/>
          </p:nvSpPr>
          <p:spPr>
            <a:xfrm>
              <a:off x="0" y="0"/>
              <a:ext cx="60450" cy="812800"/>
            </a:xfrm>
            <a:custGeom>
              <a:rect b="b" l="l" r="r" t="t"/>
              <a:pathLst>
                <a:path extrusionOk="0" h="812800" w="60450">
                  <a:moveTo>
                    <a:pt x="0" y="0"/>
                  </a:moveTo>
                  <a:lnTo>
                    <a:pt x="60450" y="0"/>
                  </a:lnTo>
                  <a:lnTo>
                    <a:pt x="60450" y="812800"/>
                  </a:lnTo>
                  <a:lnTo>
                    <a:pt x="0" y="812800"/>
                  </a:lnTo>
                  <a:close/>
                </a:path>
              </a:pathLst>
            </a:custGeom>
            <a:solidFill>
              <a:srgbClr val="FFFFFF"/>
            </a:solidFill>
            <a:ln>
              <a:noFill/>
            </a:ln>
          </p:spPr>
        </p:sp>
        <p:sp>
          <p:nvSpPr>
            <p:cNvPr id="257" name="Google Shape;257;p30"/>
            <p:cNvSpPr txBox="1"/>
            <p:nvPr/>
          </p:nvSpPr>
          <p:spPr>
            <a:xfrm>
              <a:off x="0" y="-47625"/>
              <a:ext cx="60450" cy="860425"/>
            </a:xfrm>
            <a:prstGeom prst="rect">
              <a:avLst/>
            </a:prstGeom>
            <a:noFill/>
            <a:ln>
              <a:noFill/>
            </a:ln>
          </p:spPr>
          <p:txBody>
            <a:bodyPr anchorCtr="0" anchor="ctr" bIns="25400" lIns="25400" spcFirstLastPara="1" rIns="25400" wrap="square" tIns="254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58" name="Google Shape;258;p30"/>
          <p:cNvGrpSpPr/>
          <p:nvPr/>
        </p:nvGrpSpPr>
        <p:grpSpPr>
          <a:xfrm>
            <a:off x="3792184" y="-90413"/>
            <a:ext cx="114761" cy="1633463"/>
            <a:chOff x="0" y="-47625"/>
            <a:chExt cx="60450" cy="860425"/>
          </a:xfrm>
        </p:grpSpPr>
        <p:sp>
          <p:nvSpPr>
            <p:cNvPr id="259" name="Google Shape;259;p30"/>
            <p:cNvSpPr/>
            <p:nvPr/>
          </p:nvSpPr>
          <p:spPr>
            <a:xfrm>
              <a:off x="0" y="0"/>
              <a:ext cx="60450" cy="812800"/>
            </a:xfrm>
            <a:custGeom>
              <a:rect b="b" l="l" r="r" t="t"/>
              <a:pathLst>
                <a:path extrusionOk="0" h="812800" w="60450">
                  <a:moveTo>
                    <a:pt x="0" y="0"/>
                  </a:moveTo>
                  <a:lnTo>
                    <a:pt x="60450" y="0"/>
                  </a:lnTo>
                  <a:lnTo>
                    <a:pt x="60450" y="812800"/>
                  </a:lnTo>
                  <a:lnTo>
                    <a:pt x="0" y="812800"/>
                  </a:lnTo>
                  <a:close/>
                </a:path>
              </a:pathLst>
            </a:custGeom>
            <a:solidFill>
              <a:srgbClr val="FFFFFF"/>
            </a:solidFill>
            <a:ln>
              <a:noFill/>
            </a:ln>
          </p:spPr>
        </p:sp>
        <p:sp>
          <p:nvSpPr>
            <p:cNvPr id="260" name="Google Shape;260;p30"/>
            <p:cNvSpPr txBox="1"/>
            <p:nvPr/>
          </p:nvSpPr>
          <p:spPr>
            <a:xfrm>
              <a:off x="0" y="-47625"/>
              <a:ext cx="60450" cy="860425"/>
            </a:xfrm>
            <a:prstGeom prst="rect">
              <a:avLst/>
            </a:prstGeom>
            <a:noFill/>
            <a:ln>
              <a:noFill/>
            </a:ln>
          </p:spPr>
          <p:txBody>
            <a:bodyPr anchorCtr="0" anchor="ctr" bIns="25400" lIns="25400" spcFirstLastPara="1" rIns="25400" wrap="square" tIns="254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61" name="Google Shape;261;p30"/>
          <p:cNvSpPr txBox="1"/>
          <p:nvPr/>
        </p:nvSpPr>
        <p:spPr>
          <a:xfrm>
            <a:off x="8652325" y="165260"/>
            <a:ext cx="413100" cy="333600"/>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1" i="0" lang="en" sz="2166" u="none" cap="none" strike="noStrike">
                <a:solidFill>
                  <a:srgbClr val="555C05"/>
                </a:solidFill>
                <a:latin typeface="Arial"/>
                <a:ea typeface="Arial"/>
                <a:cs typeface="Arial"/>
                <a:sym typeface="Arial"/>
              </a:rPr>
              <a:t>0</a:t>
            </a:r>
            <a:r>
              <a:rPr b="1" lang="en" sz="2166">
                <a:solidFill>
                  <a:srgbClr val="555C05"/>
                </a:solidFill>
              </a:rPr>
              <a:t>5</a:t>
            </a:r>
            <a:endParaRPr b="1" sz="2166">
              <a:solidFill>
                <a:srgbClr val="555C05"/>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31" title="Screenshot 2025-11-20 at 1.33.10 PM.png"/>
          <p:cNvPicPr preferRelativeResize="0"/>
          <p:nvPr/>
        </p:nvPicPr>
        <p:blipFill>
          <a:blip r:embed="rId3">
            <a:alphaModFix/>
          </a:blip>
          <a:stretch>
            <a:fillRect/>
          </a:stretch>
        </p:blipFill>
        <p:spPr>
          <a:xfrm>
            <a:off x="0" y="0"/>
            <a:ext cx="5680824" cy="3159401"/>
          </a:xfrm>
          <a:prstGeom prst="rect">
            <a:avLst/>
          </a:prstGeom>
          <a:noFill/>
          <a:ln>
            <a:noFill/>
          </a:ln>
        </p:spPr>
      </p:pic>
      <p:pic>
        <p:nvPicPr>
          <p:cNvPr id="267" name="Google Shape;267;p31" title="Screenshot 2025-11-20 at 1.34.06 PM.png"/>
          <p:cNvPicPr preferRelativeResize="0"/>
          <p:nvPr/>
        </p:nvPicPr>
        <p:blipFill>
          <a:blip r:embed="rId4">
            <a:alphaModFix/>
          </a:blip>
          <a:stretch>
            <a:fillRect/>
          </a:stretch>
        </p:blipFill>
        <p:spPr>
          <a:xfrm>
            <a:off x="5833224" y="152400"/>
            <a:ext cx="3158375" cy="3910615"/>
          </a:xfrm>
          <a:prstGeom prst="rect">
            <a:avLst/>
          </a:prstGeom>
          <a:noFill/>
          <a:ln>
            <a:noFill/>
          </a:ln>
        </p:spPr>
      </p:pic>
      <p:pic>
        <p:nvPicPr>
          <p:cNvPr id="268" name="Google Shape;268;p31" title="Screenshot 2025-11-20 at 1.42.17 PM.png"/>
          <p:cNvPicPr preferRelativeResize="0"/>
          <p:nvPr/>
        </p:nvPicPr>
        <p:blipFill>
          <a:blip r:embed="rId5">
            <a:alphaModFix/>
          </a:blip>
          <a:stretch>
            <a:fillRect/>
          </a:stretch>
        </p:blipFill>
        <p:spPr>
          <a:xfrm>
            <a:off x="152400" y="2704975"/>
            <a:ext cx="2802675" cy="2289850"/>
          </a:xfrm>
          <a:prstGeom prst="rect">
            <a:avLst/>
          </a:prstGeom>
          <a:noFill/>
          <a:ln>
            <a:noFill/>
          </a:ln>
        </p:spPr>
      </p:pic>
      <p:pic>
        <p:nvPicPr>
          <p:cNvPr id="269" name="Google Shape;269;p31" title="Screenshot 2025-11-20 at 1.41.17 PM.png"/>
          <p:cNvPicPr preferRelativeResize="0"/>
          <p:nvPr/>
        </p:nvPicPr>
        <p:blipFill>
          <a:blip r:embed="rId6">
            <a:alphaModFix/>
          </a:blip>
          <a:stretch>
            <a:fillRect/>
          </a:stretch>
        </p:blipFill>
        <p:spPr>
          <a:xfrm>
            <a:off x="2516328" y="2426775"/>
            <a:ext cx="3316899" cy="221498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6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6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32" title="Screenshot 2025-11-20 at 1.33.32 PM.png"/>
          <p:cNvPicPr preferRelativeResize="0"/>
          <p:nvPr/>
        </p:nvPicPr>
        <p:blipFill>
          <a:blip r:embed="rId3">
            <a:alphaModFix/>
          </a:blip>
          <a:stretch>
            <a:fillRect/>
          </a:stretch>
        </p:blipFill>
        <p:spPr>
          <a:xfrm>
            <a:off x="0" y="130075"/>
            <a:ext cx="8839204" cy="3077320"/>
          </a:xfrm>
          <a:prstGeom prst="rect">
            <a:avLst/>
          </a:prstGeom>
          <a:noFill/>
          <a:ln>
            <a:noFill/>
          </a:ln>
        </p:spPr>
      </p:pic>
      <p:pic>
        <p:nvPicPr>
          <p:cNvPr id="275" name="Google Shape;275;p32" title="Screenshot 2025-11-20 at 1.41.40 PM.png"/>
          <p:cNvPicPr preferRelativeResize="0"/>
          <p:nvPr/>
        </p:nvPicPr>
        <p:blipFill>
          <a:blip r:embed="rId4">
            <a:alphaModFix/>
          </a:blip>
          <a:stretch>
            <a:fillRect/>
          </a:stretch>
        </p:blipFill>
        <p:spPr>
          <a:xfrm>
            <a:off x="141225" y="3370970"/>
            <a:ext cx="5479000" cy="16089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3"/>
          <p:cNvSpPr/>
          <p:nvPr/>
        </p:nvSpPr>
        <p:spPr>
          <a:xfrm>
            <a:off x="0" y="1260158"/>
            <a:ext cx="9221123" cy="2623185"/>
          </a:xfrm>
          <a:custGeom>
            <a:rect b="b" l="l" r="r" t="t"/>
            <a:pathLst>
              <a:path extrusionOk="0" h="812800" w="2857186">
                <a:moveTo>
                  <a:pt x="0" y="0"/>
                </a:moveTo>
                <a:lnTo>
                  <a:pt x="2857186" y="0"/>
                </a:lnTo>
                <a:lnTo>
                  <a:pt x="2857186" y="812800"/>
                </a:lnTo>
                <a:lnTo>
                  <a:pt x="0" y="812800"/>
                </a:lnTo>
                <a:close/>
              </a:path>
            </a:pathLst>
          </a:custGeom>
          <a:blipFill rotWithShape="1">
            <a:blip r:embed="rId3">
              <a:alphaModFix/>
            </a:blip>
            <a:stretch>
              <a:fillRect b="-48862" l="0" r="0" t="-48864"/>
            </a:stretch>
          </a:blipFill>
          <a:ln>
            <a:noFill/>
          </a:ln>
        </p:spPr>
      </p:sp>
      <p:grpSp>
        <p:nvGrpSpPr>
          <p:cNvPr id="281" name="Google Shape;281;p33"/>
          <p:cNvGrpSpPr/>
          <p:nvPr/>
        </p:nvGrpSpPr>
        <p:grpSpPr>
          <a:xfrm>
            <a:off x="745200" y="334651"/>
            <a:ext cx="4197459" cy="4543665"/>
            <a:chOff x="0" y="-47625"/>
            <a:chExt cx="2526611" cy="2585300"/>
          </a:xfrm>
        </p:grpSpPr>
        <p:sp>
          <p:nvSpPr>
            <p:cNvPr id="282" name="Google Shape;282;p33"/>
            <p:cNvSpPr/>
            <p:nvPr/>
          </p:nvSpPr>
          <p:spPr>
            <a:xfrm>
              <a:off x="0" y="0"/>
              <a:ext cx="2526611" cy="2537675"/>
            </a:xfrm>
            <a:custGeom>
              <a:rect b="b" l="l" r="r" t="t"/>
              <a:pathLst>
                <a:path extrusionOk="0" h="2537675" w="2526611">
                  <a:moveTo>
                    <a:pt x="0" y="0"/>
                  </a:moveTo>
                  <a:lnTo>
                    <a:pt x="2526611" y="0"/>
                  </a:lnTo>
                  <a:lnTo>
                    <a:pt x="2526611" y="2537675"/>
                  </a:lnTo>
                  <a:lnTo>
                    <a:pt x="0" y="2537675"/>
                  </a:lnTo>
                  <a:close/>
                </a:path>
              </a:pathLst>
            </a:custGeom>
            <a:solidFill>
              <a:srgbClr val="97A217"/>
            </a:solidFill>
            <a:ln>
              <a:noFill/>
            </a:ln>
          </p:spPr>
        </p:sp>
        <p:sp>
          <p:nvSpPr>
            <p:cNvPr id="283" name="Google Shape;283;p33"/>
            <p:cNvSpPr txBox="1"/>
            <p:nvPr/>
          </p:nvSpPr>
          <p:spPr>
            <a:xfrm>
              <a:off x="0" y="-47625"/>
              <a:ext cx="2526611" cy="2585300"/>
            </a:xfrm>
            <a:prstGeom prst="rect">
              <a:avLst/>
            </a:prstGeom>
            <a:no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84" name="Google Shape;284;p33"/>
          <p:cNvGrpSpPr/>
          <p:nvPr/>
        </p:nvGrpSpPr>
        <p:grpSpPr>
          <a:xfrm>
            <a:off x="8089203" y="3404109"/>
            <a:ext cx="696843" cy="794695"/>
            <a:chOff x="0" y="-47625"/>
            <a:chExt cx="754479" cy="860425"/>
          </a:xfrm>
        </p:grpSpPr>
        <p:sp>
          <p:nvSpPr>
            <p:cNvPr id="285" name="Google Shape;285;p33"/>
            <p:cNvSpPr/>
            <p:nvPr/>
          </p:nvSpPr>
          <p:spPr>
            <a:xfrm>
              <a:off x="0" y="0"/>
              <a:ext cx="754479" cy="812800"/>
            </a:xfrm>
            <a:custGeom>
              <a:rect b="b" l="l" r="r" t="t"/>
              <a:pathLst>
                <a:path extrusionOk="0" h="812800" w="754479">
                  <a:moveTo>
                    <a:pt x="0" y="0"/>
                  </a:moveTo>
                  <a:lnTo>
                    <a:pt x="754479" y="0"/>
                  </a:lnTo>
                  <a:lnTo>
                    <a:pt x="754479" y="812800"/>
                  </a:lnTo>
                  <a:lnTo>
                    <a:pt x="0" y="812800"/>
                  </a:lnTo>
                  <a:close/>
                </a:path>
              </a:pathLst>
            </a:custGeom>
            <a:solidFill>
              <a:srgbClr val="555C05"/>
            </a:solidFill>
            <a:ln>
              <a:noFill/>
            </a:ln>
          </p:spPr>
        </p:sp>
        <p:sp>
          <p:nvSpPr>
            <p:cNvPr id="286" name="Google Shape;286;p33"/>
            <p:cNvSpPr txBox="1"/>
            <p:nvPr/>
          </p:nvSpPr>
          <p:spPr>
            <a:xfrm>
              <a:off x="0" y="-47625"/>
              <a:ext cx="754479" cy="860425"/>
            </a:xfrm>
            <a:prstGeom prst="rect">
              <a:avLst/>
            </a:prstGeom>
            <a:no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87" name="Google Shape;287;p33"/>
          <p:cNvSpPr txBox="1"/>
          <p:nvPr/>
        </p:nvSpPr>
        <p:spPr>
          <a:xfrm>
            <a:off x="8290639" y="3632429"/>
            <a:ext cx="416100" cy="307800"/>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1" i="0" lang="en" sz="2000" u="none" cap="none" strike="noStrike">
                <a:solidFill>
                  <a:srgbClr val="F4F2F2"/>
                </a:solidFill>
                <a:latin typeface="Arial"/>
                <a:ea typeface="Arial"/>
                <a:cs typeface="Arial"/>
                <a:sym typeface="Arial"/>
              </a:rPr>
              <a:t>0</a:t>
            </a:r>
            <a:r>
              <a:rPr b="1" lang="en" sz="2000">
                <a:solidFill>
                  <a:srgbClr val="F4F2F2"/>
                </a:solidFill>
              </a:rPr>
              <a:t>6</a:t>
            </a:r>
            <a:endParaRPr sz="700"/>
          </a:p>
        </p:txBody>
      </p:sp>
      <p:sp>
        <p:nvSpPr>
          <p:cNvPr id="288" name="Google Shape;288;p33"/>
          <p:cNvSpPr txBox="1"/>
          <p:nvPr/>
        </p:nvSpPr>
        <p:spPr>
          <a:xfrm>
            <a:off x="969225" y="401511"/>
            <a:ext cx="3973500" cy="1215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7900">
                <a:solidFill>
                  <a:srgbClr val="F4F2F2"/>
                </a:solidFill>
                <a:latin typeface="League Gothic"/>
                <a:ea typeface="League Gothic"/>
                <a:cs typeface="League Gothic"/>
                <a:sym typeface="League Gothic"/>
              </a:rPr>
              <a:t>TYPE II:</a:t>
            </a:r>
            <a:endParaRPr sz="700"/>
          </a:p>
        </p:txBody>
      </p:sp>
      <p:sp>
        <p:nvSpPr>
          <p:cNvPr id="289" name="Google Shape;289;p33"/>
          <p:cNvSpPr txBox="1"/>
          <p:nvPr/>
        </p:nvSpPr>
        <p:spPr>
          <a:xfrm>
            <a:off x="884400" y="1762090"/>
            <a:ext cx="3973500" cy="334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400"/>
              </a:spcBef>
              <a:spcAft>
                <a:spcPts val="0"/>
              </a:spcAft>
              <a:buSzPts val="1100"/>
              <a:buNone/>
            </a:pPr>
            <a:r>
              <a:rPr b="1" lang="en" sz="1200">
                <a:solidFill>
                  <a:schemeClr val="lt1"/>
                </a:solidFill>
                <a:latin typeface="Work Sans"/>
                <a:ea typeface="Work Sans"/>
                <a:cs typeface="Work Sans"/>
                <a:sym typeface="Work Sans"/>
              </a:rPr>
              <a:t>Key Needs:</a:t>
            </a:r>
            <a:endParaRPr b="1" sz="1200">
              <a:solidFill>
                <a:schemeClr val="lt1"/>
              </a:solidFill>
              <a:latin typeface="Work Sans"/>
              <a:ea typeface="Work Sans"/>
              <a:cs typeface="Work Sans"/>
              <a:sym typeface="Work Sans"/>
            </a:endParaRPr>
          </a:p>
          <a:p>
            <a:pPr indent="0" lvl="0" marL="0" rtl="0" algn="l">
              <a:lnSpc>
                <a:spcPct val="115000"/>
              </a:lnSpc>
              <a:spcBef>
                <a:spcPts val="1200"/>
              </a:spcBef>
              <a:spcAft>
                <a:spcPts val="0"/>
              </a:spcAft>
              <a:buSzPts val="1100"/>
              <a:buNone/>
            </a:pPr>
            <a:r>
              <a:rPr lang="en" sz="1100">
                <a:solidFill>
                  <a:schemeClr val="lt1"/>
                </a:solidFill>
                <a:latin typeface="Work Sans"/>
                <a:ea typeface="Work Sans"/>
                <a:cs typeface="Work Sans"/>
                <a:sym typeface="Work Sans"/>
              </a:rPr>
              <a:t>Scientists and experts need data-driven insights to support both research and conservation efforts for birds. They tend to focus more on patterns and signals in the data. </a:t>
            </a:r>
            <a:endParaRPr sz="1100">
              <a:solidFill>
                <a:schemeClr val="lt1"/>
              </a:solidFill>
              <a:latin typeface="Work Sans"/>
              <a:ea typeface="Work Sans"/>
              <a:cs typeface="Work Sans"/>
              <a:sym typeface="Work Sans"/>
            </a:endParaRPr>
          </a:p>
          <a:p>
            <a:pPr indent="0" lvl="0" marL="0" rtl="0" algn="l">
              <a:lnSpc>
                <a:spcPct val="115000"/>
              </a:lnSpc>
              <a:spcBef>
                <a:spcPts val="1200"/>
              </a:spcBef>
              <a:spcAft>
                <a:spcPts val="0"/>
              </a:spcAft>
              <a:buSzPts val="1100"/>
              <a:buNone/>
            </a:pPr>
            <a:r>
              <a:rPr lang="en" sz="1100">
                <a:solidFill>
                  <a:schemeClr val="lt1"/>
                </a:solidFill>
                <a:latin typeface="Work Sans"/>
                <a:ea typeface="Work Sans"/>
                <a:cs typeface="Work Sans"/>
                <a:sym typeface="Work Sans"/>
              </a:rPr>
              <a:t>Observations of </a:t>
            </a:r>
            <a:r>
              <a:rPr b="1" lang="en" sz="1100">
                <a:solidFill>
                  <a:schemeClr val="lt1"/>
                </a:solidFill>
                <a:latin typeface="Work Sans"/>
                <a:ea typeface="Work Sans"/>
                <a:cs typeface="Work Sans"/>
                <a:sym typeface="Work Sans"/>
              </a:rPr>
              <a:t>rare or uncommon species</a:t>
            </a:r>
            <a:r>
              <a:rPr lang="en" sz="1100">
                <a:solidFill>
                  <a:schemeClr val="lt1"/>
                </a:solidFill>
                <a:latin typeface="Work Sans"/>
                <a:ea typeface="Work Sans"/>
                <a:cs typeface="Work Sans"/>
                <a:sym typeface="Work Sans"/>
              </a:rPr>
              <a:t> often serve as important indicators of ecological changes, highlighting shifts in habitat health or environmental conditions. </a:t>
            </a:r>
            <a:endParaRPr sz="1100">
              <a:solidFill>
                <a:schemeClr val="lt1"/>
              </a:solidFill>
              <a:latin typeface="Work Sans"/>
              <a:ea typeface="Work Sans"/>
              <a:cs typeface="Work Sans"/>
              <a:sym typeface="Work Sans"/>
            </a:endParaRPr>
          </a:p>
          <a:p>
            <a:pPr indent="0" lvl="0" marL="0" rtl="0" algn="l">
              <a:lnSpc>
                <a:spcPct val="115000"/>
              </a:lnSpc>
              <a:spcBef>
                <a:spcPts val="1200"/>
              </a:spcBef>
              <a:spcAft>
                <a:spcPts val="0"/>
              </a:spcAft>
              <a:buSzPts val="1100"/>
              <a:buNone/>
            </a:pPr>
            <a:r>
              <a:rPr lang="en" sz="1100">
                <a:solidFill>
                  <a:schemeClr val="lt1"/>
                </a:solidFill>
                <a:latin typeface="Work Sans"/>
                <a:ea typeface="Work Sans"/>
                <a:cs typeface="Work Sans"/>
                <a:sym typeface="Work Sans"/>
              </a:rPr>
              <a:t>Furthermore, understanding </a:t>
            </a:r>
            <a:r>
              <a:rPr b="1" lang="en" sz="1100">
                <a:solidFill>
                  <a:schemeClr val="lt1"/>
                </a:solidFill>
                <a:latin typeface="Work Sans"/>
                <a:ea typeface="Work Sans"/>
                <a:cs typeface="Work Sans"/>
                <a:sym typeface="Work Sans"/>
              </a:rPr>
              <a:t>spatial and categorical  patterns</a:t>
            </a:r>
            <a:r>
              <a:rPr lang="en" sz="1100">
                <a:solidFill>
                  <a:schemeClr val="lt1"/>
                </a:solidFill>
                <a:latin typeface="Work Sans"/>
                <a:ea typeface="Work Sans"/>
                <a:cs typeface="Work Sans"/>
                <a:sym typeface="Work Sans"/>
              </a:rPr>
              <a:t> in bird populations is essential for conducting </a:t>
            </a:r>
            <a:r>
              <a:rPr b="1" lang="en" sz="1100">
                <a:solidFill>
                  <a:schemeClr val="lt1"/>
                </a:solidFill>
                <a:latin typeface="Work Sans"/>
                <a:ea typeface="Work Sans"/>
                <a:cs typeface="Work Sans"/>
                <a:sym typeface="Work Sans"/>
              </a:rPr>
              <a:t>migration studies</a:t>
            </a:r>
            <a:r>
              <a:rPr lang="en" sz="1100">
                <a:solidFill>
                  <a:schemeClr val="lt1"/>
                </a:solidFill>
                <a:latin typeface="Work Sans"/>
                <a:ea typeface="Work Sans"/>
                <a:cs typeface="Work Sans"/>
                <a:sym typeface="Work Sans"/>
              </a:rPr>
              <a:t>, planning effective conservation strategies, and assessing biodiversity across different regions.</a:t>
            </a:r>
            <a:endParaRPr i="0" sz="1200" u="none" cap="none" strike="noStrike">
              <a:solidFill>
                <a:schemeClr val="lt1"/>
              </a:solidFill>
              <a:latin typeface="Work Sans"/>
              <a:ea typeface="Work Sans"/>
              <a:cs typeface="Work Sans"/>
              <a:sym typeface="Work Sans"/>
            </a:endParaRPr>
          </a:p>
          <a:p>
            <a:pPr indent="0" lvl="0" marL="0" marR="0" rtl="0" algn="l">
              <a:lnSpc>
                <a:spcPct val="139982"/>
              </a:lnSpc>
              <a:spcBef>
                <a:spcPts val="1200"/>
              </a:spcBef>
              <a:spcAft>
                <a:spcPts val="0"/>
              </a:spcAft>
              <a:buNone/>
            </a:pPr>
            <a:r>
              <a:t/>
            </a:r>
            <a:endParaRPr i="0" sz="1200" u="none" cap="none" strike="noStrike">
              <a:solidFill>
                <a:schemeClr val="lt1"/>
              </a:solidFill>
              <a:latin typeface="Work Sans"/>
              <a:ea typeface="Work Sans"/>
              <a:cs typeface="Work Sans"/>
              <a:sym typeface="Work Sans"/>
            </a:endParaRPr>
          </a:p>
        </p:txBody>
      </p:sp>
      <p:sp>
        <p:nvSpPr>
          <p:cNvPr id="290" name="Google Shape;290;p33"/>
          <p:cNvSpPr txBox="1"/>
          <p:nvPr/>
        </p:nvSpPr>
        <p:spPr>
          <a:xfrm>
            <a:off x="1188418" y="1432868"/>
            <a:ext cx="3499200" cy="266100"/>
          </a:xfrm>
          <a:prstGeom prst="rect">
            <a:avLst/>
          </a:prstGeom>
          <a:noFill/>
          <a:ln>
            <a:noFill/>
          </a:ln>
        </p:spPr>
        <p:txBody>
          <a:bodyPr anchorCtr="0" anchor="t" bIns="0" lIns="0" spcFirstLastPara="1" rIns="0" wrap="square" tIns="0">
            <a:spAutoFit/>
          </a:bodyPr>
          <a:lstStyle/>
          <a:p>
            <a:pPr indent="0" lvl="0" marL="0" marR="0" rtl="0" algn="l">
              <a:lnSpc>
                <a:spcPct val="91000"/>
              </a:lnSpc>
              <a:spcBef>
                <a:spcPts val="0"/>
              </a:spcBef>
              <a:spcAft>
                <a:spcPts val="0"/>
              </a:spcAft>
              <a:buNone/>
            </a:pPr>
            <a:r>
              <a:rPr lang="en" sz="1900">
                <a:solidFill>
                  <a:srgbClr val="FFFFFF"/>
                </a:solidFill>
                <a:latin typeface="Beth Ellen"/>
                <a:ea typeface="Beth Ellen"/>
                <a:cs typeface="Beth Ellen"/>
                <a:sym typeface="Beth Ellen"/>
              </a:rPr>
              <a:t>Professional Ornithologist </a:t>
            </a:r>
            <a:endParaRPr sz="700"/>
          </a:p>
        </p:txBody>
      </p:sp>
      <p:sp>
        <p:nvSpPr>
          <p:cNvPr id="291" name="Google Shape;291;p33"/>
          <p:cNvSpPr/>
          <p:nvPr/>
        </p:nvSpPr>
        <p:spPr>
          <a:xfrm>
            <a:off x="-1252530" y="-396390"/>
            <a:ext cx="1902492" cy="1043993"/>
          </a:xfrm>
          <a:custGeom>
            <a:rect b="b" l="l" r="r" t="t"/>
            <a:pathLst>
              <a:path extrusionOk="0" h="2087985" w="3804984">
                <a:moveTo>
                  <a:pt x="0" y="0"/>
                </a:moveTo>
                <a:lnTo>
                  <a:pt x="3804984" y="0"/>
                </a:lnTo>
                <a:lnTo>
                  <a:pt x="3804984" y="2087985"/>
                </a:lnTo>
                <a:lnTo>
                  <a:pt x="0" y="208798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5" name="Shape 295"/>
        <p:cNvGrpSpPr/>
        <p:nvPr/>
      </p:nvGrpSpPr>
      <p:grpSpPr>
        <a:xfrm>
          <a:off x="0" y="0"/>
          <a:ext cx="0" cy="0"/>
          <a:chOff x="0" y="0"/>
          <a:chExt cx="0" cy="0"/>
        </a:xfrm>
      </p:grpSpPr>
      <p:grpSp>
        <p:nvGrpSpPr>
          <p:cNvPr id="296" name="Google Shape;296;p34"/>
          <p:cNvGrpSpPr/>
          <p:nvPr/>
        </p:nvGrpSpPr>
        <p:grpSpPr>
          <a:xfrm>
            <a:off x="6060511" y="2161288"/>
            <a:ext cx="407266" cy="471674"/>
            <a:chOff x="0" y="-47625"/>
            <a:chExt cx="301143" cy="348768"/>
          </a:xfrm>
        </p:grpSpPr>
        <p:sp>
          <p:nvSpPr>
            <p:cNvPr id="297" name="Google Shape;297;p34"/>
            <p:cNvSpPr/>
            <p:nvPr/>
          </p:nvSpPr>
          <p:spPr>
            <a:xfrm>
              <a:off x="0" y="0"/>
              <a:ext cx="301143" cy="301143"/>
            </a:xfrm>
            <a:custGeom>
              <a:rect b="b" l="l" r="r" t="t"/>
              <a:pathLst>
                <a:path extrusionOk="0" h="301143" w="301143">
                  <a:moveTo>
                    <a:pt x="0" y="0"/>
                  </a:moveTo>
                  <a:lnTo>
                    <a:pt x="301143" y="0"/>
                  </a:lnTo>
                  <a:lnTo>
                    <a:pt x="301143" y="301143"/>
                  </a:lnTo>
                  <a:lnTo>
                    <a:pt x="0" y="301143"/>
                  </a:lnTo>
                  <a:close/>
                </a:path>
              </a:pathLst>
            </a:custGeom>
            <a:solidFill>
              <a:srgbClr val="535B29"/>
            </a:solidFill>
            <a:ln>
              <a:noFill/>
            </a:ln>
          </p:spPr>
        </p:sp>
        <p:sp>
          <p:nvSpPr>
            <p:cNvPr id="298" name="Google Shape;298;p34"/>
            <p:cNvSpPr txBox="1"/>
            <p:nvPr/>
          </p:nvSpPr>
          <p:spPr>
            <a:xfrm>
              <a:off x="0" y="-47625"/>
              <a:ext cx="301143" cy="348768"/>
            </a:xfrm>
            <a:prstGeom prst="rect">
              <a:avLst/>
            </a:prstGeom>
            <a:noFill/>
            <a:ln>
              <a:noFill/>
            </a:ln>
          </p:spPr>
          <p:txBody>
            <a:bodyPr anchorCtr="0" anchor="ctr" bIns="18100" lIns="18100" spcFirstLastPara="1" rIns="18100" wrap="square" tIns="181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99" name="Google Shape;299;p34"/>
          <p:cNvGrpSpPr/>
          <p:nvPr/>
        </p:nvGrpSpPr>
        <p:grpSpPr>
          <a:xfrm>
            <a:off x="6060511" y="3048127"/>
            <a:ext cx="407266" cy="471674"/>
            <a:chOff x="0" y="-47625"/>
            <a:chExt cx="301143" cy="348768"/>
          </a:xfrm>
        </p:grpSpPr>
        <p:sp>
          <p:nvSpPr>
            <p:cNvPr id="300" name="Google Shape;300;p34"/>
            <p:cNvSpPr/>
            <p:nvPr/>
          </p:nvSpPr>
          <p:spPr>
            <a:xfrm>
              <a:off x="0" y="0"/>
              <a:ext cx="301143" cy="301143"/>
            </a:xfrm>
            <a:custGeom>
              <a:rect b="b" l="l" r="r" t="t"/>
              <a:pathLst>
                <a:path extrusionOk="0" h="301143" w="301143">
                  <a:moveTo>
                    <a:pt x="0" y="0"/>
                  </a:moveTo>
                  <a:lnTo>
                    <a:pt x="301143" y="0"/>
                  </a:lnTo>
                  <a:lnTo>
                    <a:pt x="301143" y="301143"/>
                  </a:lnTo>
                  <a:lnTo>
                    <a:pt x="0" y="301143"/>
                  </a:lnTo>
                  <a:close/>
                </a:path>
              </a:pathLst>
            </a:custGeom>
            <a:solidFill>
              <a:srgbClr val="535B29"/>
            </a:solidFill>
            <a:ln>
              <a:noFill/>
            </a:ln>
          </p:spPr>
        </p:sp>
        <p:sp>
          <p:nvSpPr>
            <p:cNvPr id="301" name="Google Shape;301;p34"/>
            <p:cNvSpPr txBox="1"/>
            <p:nvPr/>
          </p:nvSpPr>
          <p:spPr>
            <a:xfrm>
              <a:off x="0" y="-47625"/>
              <a:ext cx="301143" cy="348768"/>
            </a:xfrm>
            <a:prstGeom prst="rect">
              <a:avLst/>
            </a:prstGeom>
            <a:noFill/>
            <a:ln>
              <a:noFill/>
            </a:ln>
          </p:spPr>
          <p:txBody>
            <a:bodyPr anchorCtr="0" anchor="ctr" bIns="18100" lIns="18100" spcFirstLastPara="1" rIns="18100" wrap="square" tIns="181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02" name="Google Shape;302;p34"/>
          <p:cNvGrpSpPr/>
          <p:nvPr/>
        </p:nvGrpSpPr>
        <p:grpSpPr>
          <a:xfrm>
            <a:off x="6060511" y="3921971"/>
            <a:ext cx="407266" cy="471674"/>
            <a:chOff x="0" y="-47625"/>
            <a:chExt cx="301143" cy="348768"/>
          </a:xfrm>
        </p:grpSpPr>
        <p:sp>
          <p:nvSpPr>
            <p:cNvPr id="303" name="Google Shape;303;p34"/>
            <p:cNvSpPr/>
            <p:nvPr/>
          </p:nvSpPr>
          <p:spPr>
            <a:xfrm>
              <a:off x="0" y="0"/>
              <a:ext cx="301143" cy="301143"/>
            </a:xfrm>
            <a:custGeom>
              <a:rect b="b" l="l" r="r" t="t"/>
              <a:pathLst>
                <a:path extrusionOk="0" h="301143" w="301143">
                  <a:moveTo>
                    <a:pt x="0" y="0"/>
                  </a:moveTo>
                  <a:lnTo>
                    <a:pt x="301143" y="0"/>
                  </a:lnTo>
                  <a:lnTo>
                    <a:pt x="301143" y="301143"/>
                  </a:lnTo>
                  <a:lnTo>
                    <a:pt x="0" y="301143"/>
                  </a:lnTo>
                  <a:close/>
                </a:path>
              </a:pathLst>
            </a:custGeom>
            <a:solidFill>
              <a:srgbClr val="535B29"/>
            </a:solidFill>
            <a:ln>
              <a:noFill/>
            </a:ln>
          </p:spPr>
        </p:sp>
        <p:sp>
          <p:nvSpPr>
            <p:cNvPr id="304" name="Google Shape;304;p34"/>
            <p:cNvSpPr txBox="1"/>
            <p:nvPr/>
          </p:nvSpPr>
          <p:spPr>
            <a:xfrm>
              <a:off x="0" y="-47625"/>
              <a:ext cx="301143" cy="348768"/>
            </a:xfrm>
            <a:prstGeom prst="rect">
              <a:avLst/>
            </a:prstGeom>
            <a:noFill/>
            <a:ln>
              <a:noFill/>
            </a:ln>
          </p:spPr>
          <p:txBody>
            <a:bodyPr anchorCtr="0" anchor="ctr" bIns="18100" lIns="18100" spcFirstLastPara="1" rIns="18100" wrap="square" tIns="181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05" name="Google Shape;305;p34"/>
          <p:cNvSpPr txBox="1"/>
          <p:nvPr/>
        </p:nvSpPr>
        <p:spPr>
          <a:xfrm>
            <a:off x="350000" y="291037"/>
            <a:ext cx="3869100" cy="11853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lang="en" sz="3500">
                <a:solidFill>
                  <a:srgbClr val="555C05"/>
                </a:solidFill>
                <a:latin typeface="League Gothic"/>
                <a:ea typeface="League Gothic"/>
                <a:cs typeface="League Gothic"/>
                <a:sym typeface="League Gothic"/>
              </a:rPr>
              <a:t>How a Scientific User Uses Our Pipeline - Case Scenario</a:t>
            </a:r>
            <a:endParaRPr sz="3500"/>
          </a:p>
        </p:txBody>
      </p:sp>
      <p:grpSp>
        <p:nvGrpSpPr>
          <p:cNvPr id="306" name="Google Shape;306;p34"/>
          <p:cNvGrpSpPr/>
          <p:nvPr/>
        </p:nvGrpSpPr>
        <p:grpSpPr>
          <a:xfrm>
            <a:off x="4494476" y="-88375"/>
            <a:ext cx="1355669" cy="5277174"/>
            <a:chOff x="0" y="-47625"/>
            <a:chExt cx="812800" cy="2757000"/>
          </a:xfrm>
        </p:grpSpPr>
        <p:sp>
          <p:nvSpPr>
            <p:cNvPr id="307" name="Google Shape;307;p34"/>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55C05"/>
            </a:solidFill>
            <a:ln>
              <a:noFill/>
            </a:ln>
          </p:spPr>
        </p:sp>
        <p:sp>
          <p:nvSpPr>
            <p:cNvPr id="308" name="Google Shape;308;p34"/>
            <p:cNvSpPr txBox="1"/>
            <p:nvPr/>
          </p:nvSpPr>
          <p:spPr>
            <a:xfrm>
              <a:off x="0" y="-47625"/>
              <a:ext cx="812700" cy="2757000"/>
            </a:xfrm>
            <a:prstGeom prst="rect">
              <a:avLst/>
            </a:prstGeom>
            <a:solidFill>
              <a:srgbClr val="555C05"/>
            </a:solidFill>
            <a:ln>
              <a:noFill/>
            </a:ln>
          </p:spPr>
          <p:txBody>
            <a:bodyPr anchorCtr="0" anchor="ctr" bIns="25400" lIns="25400" spcFirstLastPara="1" rIns="25400" wrap="square" tIns="254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09" name="Google Shape;309;p34"/>
          <p:cNvSpPr txBox="1"/>
          <p:nvPr/>
        </p:nvSpPr>
        <p:spPr>
          <a:xfrm>
            <a:off x="350000" y="1572564"/>
            <a:ext cx="3966300" cy="1246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SzPts val="1100"/>
              <a:buNone/>
            </a:pPr>
            <a:r>
              <a:rPr i="1" lang="en" sz="1200">
                <a:latin typeface="Work Sans"/>
                <a:ea typeface="Work Sans"/>
                <a:cs typeface="Work Sans"/>
                <a:sym typeface="Work Sans"/>
              </a:rPr>
              <a:t>Suppose I am a professional ornithologist who visited Yellowstone National Park this summer. I noticed some notable observations—species that are rare, unusual, or simply should not appear that region. I am curious to learn more about those species.</a:t>
            </a:r>
            <a:endParaRPr i="1" sz="1200">
              <a:latin typeface="Work Sans"/>
              <a:ea typeface="Work Sans"/>
              <a:cs typeface="Work Sans"/>
              <a:sym typeface="Work Sans"/>
            </a:endParaRPr>
          </a:p>
        </p:txBody>
      </p:sp>
      <p:sp>
        <p:nvSpPr>
          <p:cNvPr id="310" name="Google Shape;310;p34"/>
          <p:cNvSpPr txBox="1"/>
          <p:nvPr/>
        </p:nvSpPr>
        <p:spPr>
          <a:xfrm>
            <a:off x="6091911" y="2303220"/>
            <a:ext cx="344400" cy="231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 sz="1500" u="none" cap="none" strike="noStrike">
                <a:solidFill>
                  <a:srgbClr val="FFFFFF"/>
                </a:solidFill>
                <a:latin typeface="Work Sans"/>
                <a:ea typeface="Work Sans"/>
                <a:cs typeface="Work Sans"/>
                <a:sym typeface="Work Sans"/>
              </a:rPr>
              <a:t>01</a:t>
            </a:r>
            <a:endParaRPr sz="700"/>
          </a:p>
        </p:txBody>
      </p:sp>
      <p:sp>
        <p:nvSpPr>
          <p:cNvPr id="311" name="Google Shape;311;p34"/>
          <p:cNvSpPr txBox="1"/>
          <p:nvPr/>
        </p:nvSpPr>
        <p:spPr>
          <a:xfrm>
            <a:off x="6091911" y="3190059"/>
            <a:ext cx="344400" cy="231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 sz="1500" u="none" cap="none" strike="noStrike">
                <a:solidFill>
                  <a:srgbClr val="FFFFFF"/>
                </a:solidFill>
                <a:latin typeface="Work Sans"/>
                <a:ea typeface="Work Sans"/>
                <a:cs typeface="Work Sans"/>
                <a:sym typeface="Work Sans"/>
              </a:rPr>
              <a:t>02</a:t>
            </a:r>
            <a:endParaRPr sz="700"/>
          </a:p>
        </p:txBody>
      </p:sp>
      <p:sp>
        <p:nvSpPr>
          <p:cNvPr id="312" name="Google Shape;312;p34"/>
          <p:cNvSpPr txBox="1"/>
          <p:nvPr/>
        </p:nvSpPr>
        <p:spPr>
          <a:xfrm>
            <a:off x="6091911" y="4063903"/>
            <a:ext cx="344400" cy="231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 sz="1500" u="none" cap="none" strike="noStrike">
                <a:solidFill>
                  <a:srgbClr val="FFFFFF"/>
                </a:solidFill>
                <a:latin typeface="Work Sans"/>
                <a:ea typeface="Work Sans"/>
                <a:cs typeface="Work Sans"/>
                <a:sym typeface="Work Sans"/>
              </a:rPr>
              <a:t>03</a:t>
            </a:r>
            <a:endParaRPr sz="700"/>
          </a:p>
        </p:txBody>
      </p:sp>
      <p:sp>
        <p:nvSpPr>
          <p:cNvPr id="313" name="Google Shape;313;p34"/>
          <p:cNvSpPr txBox="1"/>
          <p:nvPr/>
        </p:nvSpPr>
        <p:spPr>
          <a:xfrm>
            <a:off x="6730123" y="1969234"/>
            <a:ext cx="2297100" cy="861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None/>
            </a:pPr>
            <a:r>
              <a:rPr lang="en" sz="1000">
                <a:solidFill>
                  <a:schemeClr val="dk1"/>
                </a:solidFill>
                <a:latin typeface="Work Sans"/>
                <a:ea typeface="Work Sans"/>
                <a:cs typeface="Work Sans"/>
                <a:sym typeface="Work Sans"/>
              </a:rPr>
              <a:t>Connect to our pipeline and </a:t>
            </a:r>
            <a:r>
              <a:rPr b="1" lang="en" sz="1000">
                <a:solidFill>
                  <a:schemeClr val="dk1"/>
                </a:solidFill>
                <a:latin typeface="Work Sans"/>
                <a:ea typeface="Work Sans"/>
                <a:cs typeface="Work Sans"/>
                <a:sym typeface="Work Sans"/>
              </a:rPr>
              <a:t>fetch the top 10 notable bird species in Utah</a:t>
            </a:r>
            <a:r>
              <a:rPr lang="en" sz="1000">
                <a:solidFill>
                  <a:schemeClr val="dk1"/>
                </a:solidFill>
                <a:latin typeface="Work Sans"/>
                <a:ea typeface="Work Sans"/>
                <a:cs typeface="Work Sans"/>
                <a:sym typeface="Work Sans"/>
              </a:rPr>
              <a:t> from the eBird API. The pipeline </a:t>
            </a:r>
            <a:r>
              <a:rPr b="1" lang="en" sz="1000">
                <a:solidFill>
                  <a:schemeClr val="dk1"/>
                </a:solidFill>
                <a:latin typeface="Work Sans"/>
                <a:ea typeface="Work Sans"/>
                <a:cs typeface="Work Sans"/>
                <a:sym typeface="Work Sans"/>
              </a:rPr>
              <a:t>automatically stores the results in our database</a:t>
            </a:r>
            <a:r>
              <a:rPr lang="en" sz="1000">
                <a:solidFill>
                  <a:schemeClr val="dk1"/>
                </a:solidFill>
                <a:latin typeface="Work Sans"/>
                <a:ea typeface="Work Sans"/>
                <a:cs typeface="Work Sans"/>
                <a:sym typeface="Work Sans"/>
              </a:rPr>
              <a:t>.</a:t>
            </a:r>
            <a:endParaRPr sz="1100">
              <a:solidFill>
                <a:schemeClr val="dk1"/>
              </a:solidFill>
            </a:endParaRPr>
          </a:p>
        </p:txBody>
      </p:sp>
      <p:sp>
        <p:nvSpPr>
          <p:cNvPr id="314" name="Google Shape;314;p34"/>
          <p:cNvSpPr txBox="1"/>
          <p:nvPr/>
        </p:nvSpPr>
        <p:spPr>
          <a:xfrm>
            <a:off x="6730125" y="2893773"/>
            <a:ext cx="2297100" cy="861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None/>
            </a:pPr>
            <a:r>
              <a:rPr lang="en" sz="1000">
                <a:solidFill>
                  <a:schemeClr val="dk1"/>
                </a:solidFill>
                <a:latin typeface="Work Sans"/>
                <a:ea typeface="Work Sans"/>
                <a:cs typeface="Work Sans"/>
                <a:sym typeface="Work Sans"/>
              </a:rPr>
              <a:t>R</a:t>
            </a:r>
            <a:r>
              <a:rPr lang="en" sz="1000">
                <a:solidFill>
                  <a:schemeClr val="dk1"/>
                </a:solidFill>
                <a:latin typeface="Work Sans"/>
                <a:ea typeface="Work Sans"/>
                <a:cs typeface="Work Sans"/>
                <a:sym typeface="Work Sans"/>
              </a:rPr>
              <a:t>etrieve their </a:t>
            </a:r>
            <a:r>
              <a:rPr b="1" lang="en" sz="1000">
                <a:solidFill>
                  <a:schemeClr val="dk1"/>
                </a:solidFill>
                <a:latin typeface="Work Sans"/>
                <a:ea typeface="Work Sans"/>
                <a:cs typeface="Work Sans"/>
                <a:sym typeface="Work Sans"/>
              </a:rPr>
              <a:t>last 30 days of sightings in the USA</a:t>
            </a:r>
            <a:r>
              <a:rPr lang="en" sz="1000">
                <a:solidFill>
                  <a:schemeClr val="dk1"/>
                </a:solidFill>
                <a:latin typeface="Work Sans"/>
                <a:ea typeface="Work Sans"/>
                <a:cs typeface="Work Sans"/>
                <a:sym typeface="Work Sans"/>
              </a:rPr>
              <a:t> from the eBird recent observations API, and the pipeline </a:t>
            </a:r>
            <a:r>
              <a:rPr b="1" lang="en" sz="1000">
                <a:solidFill>
                  <a:schemeClr val="dk1"/>
                </a:solidFill>
                <a:latin typeface="Work Sans"/>
                <a:ea typeface="Work Sans"/>
                <a:cs typeface="Work Sans"/>
                <a:sym typeface="Work Sans"/>
              </a:rPr>
              <a:t>stores this data in the database</a:t>
            </a:r>
            <a:r>
              <a:rPr lang="en" sz="1000">
                <a:solidFill>
                  <a:schemeClr val="dk1"/>
                </a:solidFill>
                <a:latin typeface="Work Sans"/>
                <a:ea typeface="Work Sans"/>
                <a:cs typeface="Work Sans"/>
                <a:sym typeface="Work Sans"/>
              </a:rPr>
              <a:t> as well.</a:t>
            </a:r>
            <a:endParaRPr sz="1000">
              <a:solidFill>
                <a:schemeClr val="dk1"/>
              </a:solidFill>
              <a:latin typeface="Work Sans"/>
              <a:ea typeface="Work Sans"/>
              <a:cs typeface="Work Sans"/>
              <a:sym typeface="Work Sans"/>
            </a:endParaRPr>
          </a:p>
        </p:txBody>
      </p:sp>
      <p:sp>
        <p:nvSpPr>
          <p:cNvPr id="315" name="Google Shape;315;p34"/>
          <p:cNvSpPr txBox="1"/>
          <p:nvPr/>
        </p:nvSpPr>
        <p:spPr>
          <a:xfrm>
            <a:off x="6730123" y="3834525"/>
            <a:ext cx="2297100" cy="684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None/>
            </a:pPr>
            <a:r>
              <a:rPr lang="en" sz="1000">
                <a:solidFill>
                  <a:schemeClr val="dk1"/>
                </a:solidFill>
                <a:latin typeface="Work Sans"/>
                <a:ea typeface="Work Sans"/>
                <a:cs typeface="Work Sans"/>
                <a:sym typeface="Work Sans"/>
              </a:rPr>
              <a:t>The pipeline then </a:t>
            </a:r>
            <a:r>
              <a:rPr b="1" lang="en" sz="1000">
                <a:solidFill>
                  <a:schemeClr val="dk1"/>
                </a:solidFill>
                <a:latin typeface="Work Sans"/>
                <a:ea typeface="Work Sans"/>
                <a:cs typeface="Work Sans"/>
                <a:sym typeface="Work Sans"/>
              </a:rPr>
              <a:t>cleans and analyzes the data</a:t>
            </a:r>
            <a:r>
              <a:rPr lang="en" sz="1000">
                <a:solidFill>
                  <a:schemeClr val="dk1"/>
                </a:solidFill>
                <a:latin typeface="Work Sans"/>
                <a:ea typeface="Work Sans"/>
                <a:cs typeface="Work Sans"/>
                <a:sym typeface="Work Sans"/>
              </a:rPr>
              <a:t>, and the processed results are </a:t>
            </a:r>
            <a:r>
              <a:rPr b="1" lang="en" sz="1000">
                <a:solidFill>
                  <a:schemeClr val="dk1"/>
                </a:solidFill>
                <a:latin typeface="Work Sans"/>
                <a:ea typeface="Work Sans"/>
                <a:cs typeface="Work Sans"/>
                <a:sym typeface="Work Sans"/>
              </a:rPr>
              <a:t>displayed on the visualization map</a:t>
            </a:r>
            <a:r>
              <a:rPr lang="en" sz="1000">
                <a:solidFill>
                  <a:schemeClr val="dk1"/>
                </a:solidFill>
                <a:latin typeface="Work Sans"/>
                <a:ea typeface="Work Sans"/>
                <a:cs typeface="Work Sans"/>
                <a:sym typeface="Work Sans"/>
              </a:rPr>
              <a:t>.</a:t>
            </a:r>
            <a:endParaRPr sz="1000">
              <a:latin typeface="Work Sans"/>
              <a:ea typeface="Work Sans"/>
              <a:cs typeface="Work Sans"/>
              <a:sym typeface="Work Sans"/>
            </a:endParaRPr>
          </a:p>
        </p:txBody>
      </p:sp>
      <p:sp>
        <p:nvSpPr>
          <p:cNvPr id="316" name="Google Shape;316;p34"/>
          <p:cNvSpPr txBox="1"/>
          <p:nvPr/>
        </p:nvSpPr>
        <p:spPr>
          <a:xfrm>
            <a:off x="6091923" y="1566534"/>
            <a:ext cx="2640300" cy="4617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lang="en" sz="3000">
                <a:solidFill>
                  <a:srgbClr val="555C05"/>
                </a:solidFill>
                <a:latin typeface="League Gothic"/>
                <a:ea typeface="League Gothic"/>
                <a:cs typeface="League Gothic"/>
                <a:sym typeface="League Gothic"/>
              </a:rPr>
              <a:t>Steps:</a:t>
            </a:r>
            <a:endParaRPr sz="3000"/>
          </a:p>
        </p:txBody>
      </p:sp>
      <p:pic>
        <p:nvPicPr>
          <p:cNvPr id="317" name="Google Shape;317;p34"/>
          <p:cNvPicPr preferRelativeResize="0"/>
          <p:nvPr/>
        </p:nvPicPr>
        <p:blipFill>
          <a:blip r:embed="rId3">
            <a:alphaModFix/>
          </a:blip>
          <a:stretch>
            <a:fillRect/>
          </a:stretch>
        </p:blipFill>
        <p:spPr>
          <a:xfrm>
            <a:off x="350000" y="2922806"/>
            <a:ext cx="3966300" cy="1994786"/>
          </a:xfrm>
          <a:prstGeom prst="rect">
            <a:avLst/>
          </a:prstGeom>
          <a:noFill/>
          <a:ln>
            <a:noFill/>
          </a:ln>
        </p:spPr>
      </p:pic>
      <p:sp>
        <p:nvSpPr>
          <p:cNvPr id="318" name="Google Shape;318;p34"/>
          <p:cNvSpPr txBox="1"/>
          <p:nvPr/>
        </p:nvSpPr>
        <p:spPr>
          <a:xfrm>
            <a:off x="6091925" y="4663205"/>
            <a:ext cx="2875800" cy="330900"/>
          </a:xfrm>
          <a:prstGeom prst="rect">
            <a:avLst/>
          </a:prstGeom>
          <a:solidFill>
            <a:srgbClr val="555C05"/>
          </a:solidFill>
          <a:ln>
            <a:noFill/>
          </a:ln>
        </p:spPr>
        <p:txBody>
          <a:bodyPr anchorCtr="0" anchor="t" bIns="0" lIns="0" spcFirstLastPara="1" rIns="0" wrap="square" tIns="0">
            <a:spAutoFit/>
          </a:bodyPr>
          <a:lstStyle/>
          <a:p>
            <a:pPr indent="0" lvl="0" marL="0" rtl="0" algn="ctr">
              <a:lnSpc>
                <a:spcPct val="115000"/>
              </a:lnSpc>
              <a:spcBef>
                <a:spcPts val="1200"/>
              </a:spcBef>
              <a:spcAft>
                <a:spcPts val="1200"/>
              </a:spcAft>
              <a:buNone/>
            </a:pPr>
            <a:r>
              <a:rPr i="1" lang="en" sz="1000">
                <a:solidFill>
                  <a:schemeClr val="lt1"/>
                </a:solidFill>
                <a:latin typeface="Work Sans"/>
                <a:ea typeface="Work Sans"/>
                <a:cs typeface="Work Sans"/>
                <a:sym typeface="Work Sans"/>
              </a:rPr>
              <a:t>Among the notable species, I find the one I observed: </a:t>
            </a:r>
            <a:r>
              <a:rPr b="1" i="1" lang="en" sz="1000">
                <a:solidFill>
                  <a:schemeClr val="lt1"/>
                </a:solidFill>
                <a:latin typeface="Work Sans"/>
                <a:ea typeface="Work Sans"/>
                <a:cs typeface="Work Sans"/>
                <a:sym typeface="Work Sans"/>
              </a:rPr>
              <a:t>Orange-crowned Warbler</a:t>
            </a:r>
            <a:r>
              <a:rPr i="1" lang="en" sz="1000">
                <a:solidFill>
                  <a:schemeClr val="lt1"/>
                </a:solidFill>
                <a:latin typeface="Work Sans"/>
                <a:ea typeface="Work Sans"/>
                <a:cs typeface="Work Sans"/>
                <a:sym typeface="Work Sans"/>
              </a:rPr>
              <a:t>.</a:t>
            </a:r>
            <a:endParaRPr i="1" sz="1000">
              <a:solidFill>
                <a:schemeClr val="lt1"/>
              </a:solidFill>
              <a:latin typeface="Work Sans"/>
              <a:ea typeface="Work Sans"/>
              <a:cs typeface="Work Sans"/>
              <a:sym typeface="Work Sans"/>
            </a:endParaRPr>
          </a:p>
        </p:txBody>
      </p:sp>
      <p:pic>
        <p:nvPicPr>
          <p:cNvPr id="319" name="Google Shape;319;p34"/>
          <p:cNvPicPr preferRelativeResize="0"/>
          <p:nvPr/>
        </p:nvPicPr>
        <p:blipFill>
          <a:blip r:embed="rId4">
            <a:alphaModFix/>
          </a:blip>
          <a:stretch>
            <a:fillRect/>
          </a:stretch>
        </p:blipFill>
        <p:spPr>
          <a:xfrm>
            <a:off x="350000" y="2922803"/>
            <a:ext cx="3966300" cy="2002540"/>
          </a:xfrm>
          <a:prstGeom prst="rect">
            <a:avLst/>
          </a:prstGeom>
          <a:noFill/>
          <a:ln cap="flat" cmpd="sng" w="9525">
            <a:solidFill>
              <a:schemeClr val="dk1"/>
            </a:solidFill>
            <a:prstDash val="solid"/>
            <a:round/>
            <a:headEnd len="sm" w="sm" type="none"/>
            <a:tailEnd len="sm" w="sm" type="none"/>
          </a:ln>
        </p:spPr>
      </p:pic>
      <p:sp>
        <p:nvSpPr>
          <p:cNvPr id="320" name="Google Shape;320;p34"/>
          <p:cNvSpPr/>
          <p:nvPr/>
        </p:nvSpPr>
        <p:spPr>
          <a:xfrm>
            <a:off x="-1226780" y="4393660"/>
            <a:ext cx="1902492" cy="1043993"/>
          </a:xfrm>
          <a:custGeom>
            <a:rect b="b" l="l" r="r" t="t"/>
            <a:pathLst>
              <a:path extrusionOk="0" h="2087985" w="3804984">
                <a:moveTo>
                  <a:pt x="0" y="0"/>
                </a:moveTo>
                <a:lnTo>
                  <a:pt x="3804984" y="0"/>
                </a:lnTo>
                <a:lnTo>
                  <a:pt x="3804984" y="2087985"/>
                </a:lnTo>
                <a:lnTo>
                  <a:pt x="0" y="2087985"/>
                </a:lnTo>
                <a:lnTo>
                  <a:pt x="0" y="0"/>
                </a:lnTo>
                <a:close/>
              </a:path>
            </a:pathLst>
          </a:custGeom>
          <a:blipFill rotWithShape="1">
            <a:blip r:embed="rId5">
              <a:alphaModFix/>
            </a:blip>
            <a:stretch>
              <a:fillRect b="0" l="0" r="0" t="0"/>
            </a:stretch>
          </a:blipFill>
          <a:ln>
            <a:noFill/>
          </a:ln>
        </p:spPr>
      </p:sp>
      <p:pic>
        <p:nvPicPr>
          <p:cNvPr id="321" name="Google Shape;321;p34"/>
          <p:cNvPicPr preferRelativeResize="0"/>
          <p:nvPr/>
        </p:nvPicPr>
        <p:blipFill rotWithShape="1">
          <a:blip r:embed="rId6">
            <a:alphaModFix/>
          </a:blip>
          <a:srcRect b="24881" l="0" r="0" t="14431"/>
          <a:stretch/>
        </p:blipFill>
        <p:spPr>
          <a:xfrm>
            <a:off x="6046463" y="190296"/>
            <a:ext cx="2966726" cy="135038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25" name="Shape 325"/>
        <p:cNvGrpSpPr/>
        <p:nvPr/>
      </p:nvGrpSpPr>
      <p:grpSpPr>
        <a:xfrm>
          <a:off x="0" y="0"/>
          <a:ext cx="0" cy="0"/>
          <a:chOff x="0" y="0"/>
          <a:chExt cx="0" cy="0"/>
        </a:xfrm>
      </p:grpSpPr>
      <p:grpSp>
        <p:nvGrpSpPr>
          <p:cNvPr id="326" name="Google Shape;326;p35"/>
          <p:cNvGrpSpPr/>
          <p:nvPr/>
        </p:nvGrpSpPr>
        <p:grpSpPr>
          <a:xfrm>
            <a:off x="3269411" y="-583724"/>
            <a:ext cx="9608535" cy="7645236"/>
            <a:chOff x="0" y="-47625"/>
            <a:chExt cx="5061386" cy="4027200"/>
          </a:xfrm>
        </p:grpSpPr>
        <p:sp>
          <p:nvSpPr>
            <p:cNvPr id="327" name="Google Shape;327;p35"/>
            <p:cNvSpPr/>
            <p:nvPr/>
          </p:nvSpPr>
          <p:spPr>
            <a:xfrm>
              <a:off x="0" y="0"/>
              <a:ext cx="5061386" cy="3979533"/>
            </a:xfrm>
            <a:custGeom>
              <a:rect b="b" l="l" r="r" t="t"/>
              <a:pathLst>
                <a:path extrusionOk="0" h="3979533" w="5061386">
                  <a:moveTo>
                    <a:pt x="0" y="0"/>
                  </a:moveTo>
                  <a:lnTo>
                    <a:pt x="5061386" y="0"/>
                  </a:lnTo>
                  <a:lnTo>
                    <a:pt x="5061386" y="3979533"/>
                  </a:lnTo>
                  <a:lnTo>
                    <a:pt x="0" y="3979533"/>
                  </a:lnTo>
                  <a:close/>
                </a:path>
              </a:pathLst>
            </a:custGeom>
            <a:solidFill>
              <a:srgbClr val="97A217"/>
            </a:solidFill>
            <a:ln>
              <a:noFill/>
            </a:ln>
          </p:spPr>
        </p:sp>
        <p:sp>
          <p:nvSpPr>
            <p:cNvPr id="328" name="Google Shape;328;p35"/>
            <p:cNvSpPr txBox="1"/>
            <p:nvPr/>
          </p:nvSpPr>
          <p:spPr>
            <a:xfrm>
              <a:off x="0" y="-47625"/>
              <a:ext cx="5061300" cy="4027200"/>
            </a:xfrm>
            <a:prstGeom prst="rect">
              <a:avLst/>
            </a:prstGeom>
            <a:solidFill>
              <a:srgbClr val="555C05"/>
            </a:solid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29" name="Google Shape;329;p35"/>
          <p:cNvGrpSpPr/>
          <p:nvPr/>
        </p:nvGrpSpPr>
        <p:grpSpPr>
          <a:xfrm>
            <a:off x="0" y="777602"/>
            <a:ext cx="9608535" cy="3804611"/>
            <a:chOff x="0" y="-47625"/>
            <a:chExt cx="5061386" cy="2028801"/>
          </a:xfrm>
        </p:grpSpPr>
        <p:sp>
          <p:nvSpPr>
            <p:cNvPr id="330" name="Google Shape;330;p35"/>
            <p:cNvSpPr/>
            <p:nvPr/>
          </p:nvSpPr>
          <p:spPr>
            <a:xfrm>
              <a:off x="0" y="0"/>
              <a:ext cx="5061386" cy="1981176"/>
            </a:xfrm>
            <a:custGeom>
              <a:rect b="b" l="l" r="r" t="t"/>
              <a:pathLst>
                <a:path extrusionOk="0" h="1981176" w="5061386">
                  <a:moveTo>
                    <a:pt x="0" y="0"/>
                  </a:moveTo>
                  <a:lnTo>
                    <a:pt x="5061386" y="0"/>
                  </a:lnTo>
                  <a:lnTo>
                    <a:pt x="5061386" y="1981176"/>
                  </a:lnTo>
                  <a:lnTo>
                    <a:pt x="0" y="1981176"/>
                  </a:lnTo>
                  <a:close/>
                </a:path>
              </a:pathLst>
            </a:custGeom>
            <a:solidFill>
              <a:srgbClr val="F4F2F2"/>
            </a:solidFill>
            <a:ln>
              <a:noFill/>
            </a:ln>
          </p:spPr>
        </p:sp>
        <p:sp>
          <p:nvSpPr>
            <p:cNvPr id="331" name="Google Shape;331;p35"/>
            <p:cNvSpPr txBox="1"/>
            <p:nvPr/>
          </p:nvSpPr>
          <p:spPr>
            <a:xfrm>
              <a:off x="0" y="-47625"/>
              <a:ext cx="5061386" cy="2028801"/>
            </a:xfrm>
            <a:prstGeom prst="rect">
              <a:avLst/>
            </a:prstGeom>
            <a:no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32" name="Google Shape;332;p35"/>
          <p:cNvSpPr txBox="1"/>
          <p:nvPr/>
        </p:nvSpPr>
        <p:spPr>
          <a:xfrm>
            <a:off x="261850" y="1392026"/>
            <a:ext cx="2724300" cy="715800"/>
          </a:xfrm>
          <a:prstGeom prst="rect">
            <a:avLst/>
          </a:prstGeom>
          <a:noFill/>
          <a:ln>
            <a:noFill/>
          </a:ln>
        </p:spPr>
        <p:txBody>
          <a:bodyPr anchorCtr="0" anchor="t" bIns="0" lIns="0" spcFirstLastPara="1" rIns="0" wrap="square" tIns="0">
            <a:spAutoFit/>
          </a:bodyPr>
          <a:lstStyle/>
          <a:p>
            <a:pPr indent="0" lvl="0" marL="0" marR="0" rtl="0" algn="l">
              <a:lnSpc>
                <a:spcPct val="93001"/>
              </a:lnSpc>
              <a:spcBef>
                <a:spcPts val="0"/>
              </a:spcBef>
              <a:spcAft>
                <a:spcPts val="0"/>
              </a:spcAft>
              <a:buNone/>
            </a:pPr>
            <a:r>
              <a:rPr lang="en" sz="2500">
                <a:solidFill>
                  <a:srgbClr val="555C05"/>
                </a:solidFill>
                <a:latin typeface="League Gothic"/>
                <a:ea typeface="League Gothic"/>
                <a:cs typeface="League Gothic"/>
                <a:sym typeface="League Gothic"/>
              </a:rPr>
              <a:t>Analysis I: Where Birds Appear vs. Where We Expect Them</a:t>
            </a:r>
            <a:endParaRPr sz="2500">
              <a:solidFill>
                <a:srgbClr val="555C05"/>
              </a:solidFill>
              <a:latin typeface="League Gothic"/>
              <a:ea typeface="League Gothic"/>
              <a:cs typeface="League Gothic"/>
              <a:sym typeface="League Gothic"/>
            </a:endParaRPr>
          </a:p>
        </p:txBody>
      </p:sp>
      <p:sp>
        <p:nvSpPr>
          <p:cNvPr id="333" name="Google Shape;333;p35"/>
          <p:cNvSpPr/>
          <p:nvPr/>
        </p:nvSpPr>
        <p:spPr>
          <a:xfrm>
            <a:off x="8406088" y="4722251"/>
            <a:ext cx="447124" cy="211825"/>
          </a:xfrm>
          <a:custGeom>
            <a:rect b="b" l="l" r="r" t="t"/>
            <a:pathLst>
              <a:path extrusionOk="0" h="423650" w="894247">
                <a:moveTo>
                  <a:pt x="0" y="0"/>
                </a:moveTo>
                <a:lnTo>
                  <a:pt x="894248" y="0"/>
                </a:lnTo>
                <a:lnTo>
                  <a:pt x="894248" y="423650"/>
                </a:lnTo>
                <a:lnTo>
                  <a:pt x="0" y="423650"/>
                </a:lnTo>
                <a:lnTo>
                  <a:pt x="0" y="0"/>
                </a:lnTo>
                <a:close/>
              </a:path>
            </a:pathLst>
          </a:custGeom>
          <a:blipFill rotWithShape="1">
            <a:blip r:embed="rId3">
              <a:alphaModFix/>
            </a:blip>
            <a:stretch>
              <a:fillRect b="0" l="0" r="0" t="0"/>
            </a:stretch>
          </a:blipFill>
          <a:ln>
            <a:noFill/>
          </a:ln>
        </p:spPr>
      </p:sp>
      <p:grpSp>
        <p:nvGrpSpPr>
          <p:cNvPr id="334" name="Google Shape;334;p35"/>
          <p:cNvGrpSpPr/>
          <p:nvPr/>
        </p:nvGrpSpPr>
        <p:grpSpPr>
          <a:xfrm>
            <a:off x="114913" y="506851"/>
            <a:ext cx="571383" cy="651600"/>
            <a:chOff x="0" y="-47625"/>
            <a:chExt cx="754500" cy="860425"/>
          </a:xfrm>
        </p:grpSpPr>
        <p:sp>
          <p:nvSpPr>
            <p:cNvPr id="335" name="Google Shape;335;p35"/>
            <p:cNvSpPr/>
            <p:nvPr/>
          </p:nvSpPr>
          <p:spPr>
            <a:xfrm>
              <a:off x="0" y="0"/>
              <a:ext cx="754479" cy="812800"/>
            </a:xfrm>
            <a:custGeom>
              <a:rect b="b" l="l" r="r" t="t"/>
              <a:pathLst>
                <a:path extrusionOk="0" h="812800" w="754479">
                  <a:moveTo>
                    <a:pt x="0" y="0"/>
                  </a:moveTo>
                  <a:lnTo>
                    <a:pt x="754479" y="0"/>
                  </a:lnTo>
                  <a:lnTo>
                    <a:pt x="754479" y="812800"/>
                  </a:lnTo>
                  <a:lnTo>
                    <a:pt x="0" y="812800"/>
                  </a:lnTo>
                  <a:close/>
                </a:path>
              </a:pathLst>
            </a:custGeom>
            <a:solidFill>
              <a:srgbClr val="555C05"/>
            </a:solidFill>
            <a:ln>
              <a:noFill/>
            </a:ln>
          </p:spPr>
        </p:sp>
        <p:sp>
          <p:nvSpPr>
            <p:cNvPr id="336" name="Google Shape;336;p35"/>
            <p:cNvSpPr txBox="1"/>
            <p:nvPr/>
          </p:nvSpPr>
          <p:spPr>
            <a:xfrm>
              <a:off x="0" y="-47625"/>
              <a:ext cx="754500" cy="860400"/>
            </a:xfrm>
            <a:prstGeom prst="rect">
              <a:avLst/>
            </a:prstGeom>
            <a:noFill/>
            <a:ln>
              <a:noFill/>
            </a:ln>
          </p:spPr>
          <p:txBody>
            <a:bodyPr anchorCtr="0" anchor="ctr" bIns="20825" lIns="20825" spcFirstLastPara="1" rIns="20825" wrap="square" tIns="20825">
              <a:noAutofit/>
            </a:bodyPr>
            <a:lstStyle/>
            <a:p>
              <a:pPr indent="0" lvl="0" marL="0" marR="0" rtl="0" algn="ctr">
                <a:lnSpc>
                  <a:spcPct val="157833"/>
                </a:lnSpc>
                <a:spcBef>
                  <a:spcPts val="0"/>
                </a:spcBef>
                <a:spcAft>
                  <a:spcPts val="0"/>
                </a:spcAft>
                <a:buNone/>
              </a:pPr>
              <a:r>
                <a:t/>
              </a:r>
              <a:endParaRPr b="0" i="0" sz="737" u="none" cap="none" strike="noStrike">
                <a:solidFill>
                  <a:schemeClr val="dk1"/>
                </a:solidFill>
                <a:latin typeface="Calibri"/>
                <a:ea typeface="Calibri"/>
                <a:cs typeface="Calibri"/>
                <a:sym typeface="Calibri"/>
              </a:endParaRPr>
            </a:p>
          </p:txBody>
        </p:sp>
      </p:grpSp>
      <p:pic>
        <p:nvPicPr>
          <p:cNvPr id="337" name="Google Shape;337;p35"/>
          <p:cNvPicPr preferRelativeResize="0"/>
          <p:nvPr/>
        </p:nvPicPr>
        <p:blipFill>
          <a:blip r:embed="rId4">
            <a:alphaModFix/>
          </a:blip>
          <a:stretch>
            <a:fillRect/>
          </a:stretch>
        </p:blipFill>
        <p:spPr>
          <a:xfrm>
            <a:off x="3295154" y="1235767"/>
            <a:ext cx="5770977" cy="2964399"/>
          </a:xfrm>
          <a:prstGeom prst="rect">
            <a:avLst/>
          </a:prstGeom>
          <a:noFill/>
          <a:ln cap="flat" cmpd="sng" w="19050">
            <a:solidFill>
              <a:srgbClr val="555C05"/>
            </a:solidFill>
            <a:prstDash val="solid"/>
            <a:round/>
            <a:headEnd len="sm" w="sm" type="none"/>
            <a:tailEnd len="sm" w="sm" type="none"/>
          </a:ln>
          <a:effectLst>
            <a:outerShdw blurRad="57150" rotWithShape="0" algn="bl" dir="5400000" dist="19050">
              <a:srgbClr val="555C05">
                <a:alpha val="50000"/>
              </a:srgbClr>
            </a:outerShdw>
          </a:effectLst>
        </p:spPr>
      </p:pic>
      <p:sp>
        <p:nvSpPr>
          <p:cNvPr id="338" name="Google Shape;338;p35"/>
          <p:cNvSpPr txBox="1"/>
          <p:nvPr/>
        </p:nvSpPr>
        <p:spPr>
          <a:xfrm>
            <a:off x="223150" y="2434450"/>
            <a:ext cx="2868000" cy="1465800"/>
          </a:xfrm>
          <a:prstGeom prst="rect">
            <a:avLst/>
          </a:prstGeom>
          <a:solidFill>
            <a:schemeClr val="lt2"/>
          </a:solidFill>
          <a:ln cap="flat" cmpd="sng" w="9525">
            <a:solidFill>
              <a:srgbClr val="555C05"/>
            </a:solidFill>
            <a:prstDash val="solid"/>
            <a:round/>
            <a:headEnd len="sm" w="sm" type="none"/>
            <a:tailEnd len="sm" w="sm" type="none"/>
          </a:ln>
          <a:effectLst>
            <a:outerShdw blurRad="57150" rotWithShape="0" algn="bl" dir="5400000" dist="19050">
              <a:srgbClr val="555C05">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555C05"/>
                </a:solidFill>
                <a:latin typeface="Beth Ellen"/>
                <a:ea typeface="Beth Ellen"/>
                <a:cs typeface="Beth Ellen"/>
                <a:sym typeface="Beth Ellen"/>
              </a:rPr>
              <a:t>Hotspot Def</a:t>
            </a:r>
            <a:r>
              <a:rPr lang="en" sz="1200">
                <a:solidFill>
                  <a:srgbClr val="555C05"/>
                </a:solidFill>
                <a:latin typeface="Work Sans"/>
                <a:ea typeface="Work Sans"/>
                <a:cs typeface="Work Sans"/>
                <a:sym typeface="Work Sans"/>
              </a:rPr>
              <a:t>: A geographic area where a high number of bird observations have been reported.</a:t>
            </a:r>
            <a:endParaRPr sz="1200">
              <a:solidFill>
                <a:srgbClr val="555C05"/>
              </a:solidFill>
              <a:latin typeface="Work Sans"/>
              <a:ea typeface="Work Sans"/>
              <a:cs typeface="Work Sans"/>
              <a:sym typeface="Work Sans"/>
            </a:endParaRPr>
          </a:p>
          <a:p>
            <a:pPr indent="0" lvl="0" marL="0" rtl="0" algn="l">
              <a:spcBef>
                <a:spcPts val="0"/>
              </a:spcBef>
              <a:spcAft>
                <a:spcPts val="0"/>
              </a:spcAft>
              <a:buNone/>
            </a:pPr>
            <a:r>
              <a:t/>
            </a:r>
            <a:endParaRPr sz="1200">
              <a:solidFill>
                <a:srgbClr val="555C05"/>
              </a:solidFill>
              <a:latin typeface="Work Sans"/>
              <a:ea typeface="Work Sans"/>
              <a:cs typeface="Work Sans"/>
              <a:sym typeface="Work Sans"/>
            </a:endParaRPr>
          </a:p>
          <a:p>
            <a:pPr indent="0" lvl="0" marL="0" rtl="0" algn="l">
              <a:spcBef>
                <a:spcPts val="0"/>
              </a:spcBef>
              <a:spcAft>
                <a:spcPts val="0"/>
              </a:spcAft>
              <a:buNone/>
            </a:pPr>
            <a:r>
              <a:rPr b="1" lang="en" sz="1200">
                <a:solidFill>
                  <a:srgbClr val="555C05"/>
                </a:solidFill>
                <a:latin typeface="Beth Ellen"/>
                <a:ea typeface="Beth Ellen"/>
                <a:cs typeface="Beth Ellen"/>
                <a:sym typeface="Beth Ellen"/>
              </a:rPr>
              <a:t>Implication</a:t>
            </a:r>
            <a:r>
              <a:rPr lang="en" sz="1200">
                <a:solidFill>
                  <a:srgbClr val="555C05"/>
                </a:solidFill>
                <a:latin typeface="Work Sans"/>
                <a:ea typeface="Work Sans"/>
                <a:cs typeface="Work Sans"/>
                <a:sym typeface="Work Sans"/>
              </a:rPr>
              <a:t>: Hotspots is based on observer effort or expectations. It is a reflection on human selection.</a:t>
            </a:r>
            <a:endParaRPr sz="1200">
              <a:solidFill>
                <a:srgbClr val="555C05"/>
              </a:solidFill>
              <a:latin typeface="Work Sans"/>
              <a:ea typeface="Work Sans"/>
              <a:cs typeface="Work Sans"/>
              <a:sym typeface="Work Sans"/>
            </a:endParaRPr>
          </a:p>
        </p:txBody>
      </p:sp>
      <p:grpSp>
        <p:nvGrpSpPr>
          <p:cNvPr id="339" name="Google Shape;339;p35"/>
          <p:cNvGrpSpPr/>
          <p:nvPr/>
        </p:nvGrpSpPr>
        <p:grpSpPr>
          <a:xfrm>
            <a:off x="2519838" y="4213051"/>
            <a:ext cx="571383" cy="651600"/>
            <a:chOff x="0" y="-47625"/>
            <a:chExt cx="754500" cy="860425"/>
          </a:xfrm>
        </p:grpSpPr>
        <p:sp>
          <p:nvSpPr>
            <p:cNvPr id="340" name="Google Shape;340;p35"/>
            <p:cNvSpPr/>
            <p:nvPr/>
          </p:nvSpPr>
          <p:spPr>
            <a:xfrm>
              <a:off x="0" y="0"/>
              <a:ext cx="754479" cy="812800"/>
            </a:xfrm>
            <a:custGeom>
              <a:rect b="b" l="l" r="r" t="t"/>
              <a:pathLst>
                <a:path extrusionOk="0" h="812800" w="754479">
                  <a:moveTo>
                    <a:pt x="0" y="0"/>
                  </a:moveTo>
                  <a:lnTo>
                    <a:pt x="754479" y="0"/>
                  </a:lnTo>
                  <a:lnTo>
                    <a:pt x="754479" y="812800"/>
                  </a:lnTo>
                  <a:lnTo>
                    <a:pt x="0" y="812800"/>
                  </a:lnTo>
                  <a:close/>
                </a:path>
              </a:pathLst>
            </a:custGeom>
            <a:solidFill>
              <a:srgbClr val="555C05"/>
            </a:solidFill>
            <a:ln>
              <a:noFill/>
            </a:ln>
          </p:spPr>
        </p:sp>
        <p:sp>
          <p:nvSpPr>
            <p:cNvPr id="341" name="Google Shape;341;p35"/>
            <p:cNvSpPr txBox="1"/>
            <p:nvPr/>
          </p:nvSpPr>
          <p:spPr>
            <a:xfrm>
              <a:off x="0" y="-47625"/>
              <a:ext cx="754500" cy="860400"/>
            </a:xfrm>
            <a:prstGeom prst="rect">
              <a:avLst/>
            </a:prstGeom>
            <a:noFill/>
            <a:ln>
              <a:noFill/>
            </a:ln>
          </p:spPr>
          <p:txBody>
            <a:bodyPr anchorCtr="0" anchor="ctr" bIns="20825" lIns="20825" spcFirstLastPara="1" rIns="20825" wrap="square" tIns="20825">
              <a:noAutofit/>
            </a:bodyPr>
            <a:lstStyle/>
            <a:p>
              <a:pPr indent="0" lvl="0" marL="0" marR="0" rtl="0" algn="ctr">
                <a:lnSpc>
                  <a:spcPct val="157833"/>
                </a:lnSpc>
                <a:spcBef>
                  <a:spcPts val="0"/>
                </a:spcBef>
                <a:spcAft>
                  <a:spcPts val="0"/>
                </a:spcAft>
                <a:buNone/>
              </a:pPr>
              <a:r>
                <a:t/>
              </a:r>
              <a:endParaRPr b="0" i="0" sz="737" u="none" cap="none" strike="noStrike">
                <a:solidFill>
                  <a:schemeClr val="dk1"/>
                </a:solidFill>
                <a:latin typeface="Calibri"/>
                <a:ea typeface="Calibri"/>
                <a:cs typeface="Calibri"/>
                <a:sym typeface="Calibri"/>
              </a:endParaRPr>
            </a:p>
          </p:txBody>
        </p:sp>
      </p:grpSp>
      <p:sp>
        <p:nvSpPr>
          <p:cNvPr id="342" name="Google Shape;342;p35"/>
          <p:cNvSpPr txBox="1"/>
          <p:nvPr/>
        </p:nvSpPr>
        <p:spPr>
          <a:xfrm>
            <a:off x="3353000" y="1462925"/>
            <a:ext cx="5655300" cy="2269800"/>
          </a:xfrm>
          <a:prstGeom prst="rect">
            <a:avLst/>
          </a:prstGeom>
          <a:solidFill>
            <a:schemeClr val="lt2"/>
          </a:solidFill>
          <a:ln cap="flat" cmpd="sng" w="9525">
            <a:solidFill>
              <a:srgbClr val="555C05"/>
            </a:solidFill>
            <a:prstDash val="solid"/>
            <a:round/>
            <a:headEnd len="sm" w="sm" type="none"/>
            <a:tailEnd len="sm" w="sm" type="none"/>
          </a:ln>
          <a:effectLst>
            <a:outerShdw blurRad="57150" rotWithShape="0" algn="bl" dir="5400000" dist="19050">
              <a:srgbClr val="97A217">
                <a:alpha val="50000"/>
              </a:srgbClr>
            </a:outerShdw>
          </a:effectLst>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600">
                <a:solidFill>
                  <a:schemeClr val="dk1"/>
                </a:solidFill>
                <a:latin typeface="Beth Ellen"/>
                <a:ea typeface="Beth Ellen"/>
                <a:cs typeface="Beth Ellen"/>
                <a:sym typeface="Beth Ellen"/>
              </a:rPr>
              <a:t>Conclusion</a:t>
            </a:r>
            <a:r>
              <a:rPr lang="en" sz="1600">
                <a:solidFill>
                  <a:schemeClr val="dk1"/>
                </a:solidFill>
                <a:latin typeface="Work Sans"/>
                <a:ea typeface="Work Sans"/>
                <a:cs typeface="Work Sans"/>
                <a:sym typeface="Work Sans"/>
              </a:rPr>
              <a:t>: </a:t>
            </a:r>
            <a:r>
              <a:rPr lang="en" sz="1500">
                <a:solidFill>
                  <a:schemeClr val="dk1"/>
                </a:solidFill>
                <a:latin typeface="Work Sans"/>
                <a:ea typeface="Work Sans"/>
                <a:cs typeface="Work Sans"/>
                <a:sym typeface="Work Sans"/>
              </a:rPr>
              <a:t>Here, the Orange-crowned Warbler’s recent observations largely align with the high-density hotspots on the map (California, Florida, Texas, Washington…). This suggests that the areas where this species appears coincide with regions frequently visited by birdwatchers. This corroborates that those hotspots are reasonable selections that experienced birdwatchers makes based on their knowledge on actual species presence.</a:t>
            </a:r>
            <a:endParaRPr sz="1500">
              <a:solidFill>
                <a:schemeClr val="dk1"/>
              </a:solidFill>
              <a:latin typeface="Work Sans"/>
              <a:ea typeface="Work Sans"/>
              <a:cs typeface="Work Sans"/>
              <a:sym typeface="Work Sans"/>
            </a:endParaRPr>
          </a:p>
          <a:p>
            <a:pPr indent="0" lvl="0" marL="0" rtl="0" algn="l">
              <a:spcBef>
                <a:spcPts val="1200"/>
              </a:spcBef>
              <a:spcAft>
                <a:spcPts val="0"/>
              </a:spcAft>
              <a:buNone/>
            </a:pPr>
            <a:r>
              <a:t/>
            </a:r>
            <a:endParaRPr sz="1600">
              <a:solidFill>
                <a:schemeClr val="dk1"/>
              </a:solidFill>
              <a:latin typeface="Work Sans"/>
              <a:ea typeface="Work Sans"/>
              <a:cs typeface="Work Sans"/>
              <a:sym typeface="Work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3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6"/>
          <p:cNvSpPr/>
          <p:nvPr/>
        </p:nvSpPr>
        <p:spPr>
          <a:xfrm>
            <a:off x="0" y="0"/>
            <a:ext cx="100584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pic>
        <p:nvPicPr>
          <p:cNvPr id="348" name="Google Shape;348;p36"/>
          <p:cNvPicPr preferRelativeResize="0"/>
          <p:nvPr/>
        </p:nvPicPr>
        <p:blipFill>
          <a:blip r:embed="rId4">
            <a:alphaModFix/>
          </a:blip>
          <a:stretch>
            <a:fillRect/>
          </a:stretch>
        </p:blipFill>
        <p:spPr>
          <a:xfrm>
            <a:off x="8" y="0"/>
            <a:ext cx="9191910" cy="5143500"/>
          </a:xfrm>
          <a:prstGeom prst="rect">
            <a:avLst/>
          </a:prstGeom>
          <a:noFill/>
          <a:ln cap="flat" cmpd="sng" w="19050">
            <a:solidFill>
              <a:schemeClr val="lt1"/>
            </a:solidFill>
            <a:prstDash val="solid"/>
            <a:round/>
            <a:headEnd len="sm" w="sm" type="none"/>
            <a:tailEnd len="sm" w="sm" type="none"/>
          </a:ln>
        </p:spPr>
      </p:pic>
      <p:sp>
        <p:nvSpPr>
          <p:cNvPr id="349" name="Google Shape;349;p36"/>
          <p:cNvSpPr txBox="1"/>
          <p:nvPr/>
        </p:nvSpPr>
        <p:spPr>
          <a:xfrm>
            <a:off x="5684975" y="719870"/>
            <a:ext cx="3376800" cy="1002000"/>
          </a:xfrm>
          <a:prstGeom prst="rect">
            <a:avLst/>
          </a:prstGeom>
          <a:noFill/>
          <a:ln>
            <a:noFill/>
          </a:ln>
        </p:spPr>
        <p:txBody>
          <a:bodyPr anchorCtr="0" anchor="t" bIns="0" lIns="0" spcFirstLastPara="1" rIns="0" wrap="square" tIns="0">
            <a:spAutoFit/>
          </a:bodyPr>
          <a:lstStyle/>
          <a:p>
            <a:pPr indent="0" lvl="0" marL="0" marR="0" rtl="0" algn="l">
              <a:lnSpc>
                <a:spcPct val="93001"/>
              </a:lnSpc>
              <a:spcBef>
                <a:spcPts val="0"/>
              </a:spcBef>
              <a:spcAft>
                <a:spcPts val="0"/>
              </a:spcAft>
              <a:buNone/>
            </a:pPr>
            <a:r>
              <a:rPr lang="en" sz="3500">
                <a:solidFill>
                  <a:srgbClr val="C4C892"/>
                </a:solidFill>
                <a:latin typeface="League Gothic"/>
                <a:ea typeface="League Gothic"/>
                <a:cs typeface="League Gothic"/>
                <a:sym typeface="League Gothic"/>
              </a:rPr>
              <a:t>Analysis II: Species Distribution vs. Biodiversity</a:t>
            </a:r>
            <a:endParaRPr sz="3500"/>
          </a:p>
        </p:txBody>
      </p:sp>
      <p:sp>
        <p:nvSpPr>
          <p:cNvPr id="350" name="Google Shape;350;p36"/>
          <p:cNvSpPr txBox="1"/>
          <p:nvPr/>
        </p:nvSpPr>
        <p:spPr>
          <a:xfrm>
            <a:off x="5684977" y="2007329"/>
            <a:ext cx="3126600" cy="1825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 sz="1200">
                <a:solidFill>
                  <a:schemeClr val="lt1"/>
                </a:solidFill>
                <a:latin typeface="Beth Ellen"/>
                <a:ea typeface="Beth Ellen"/>
                <a:cs typeface="Beth Ellen"/>
                <a:sym typeface="Beth Ellen"/>
              </a:rPr>
              <a:t>Species Richness </a:t>
            </a:r>
            <a:r>
              <a:rPr b="1" lang="en" sz="1200">
                <a:solidFill>
                  <a:schemeClr val="lt1"/>
                </a:solidFill>
                <a:latin typeface="Beth Ellen"/>
                <a:ea typeface="Beth Ellen"/>
                <a:cs typeface="Beth Ellen"/>
                <a:sym typeface="Beth Ellen"/>
              </a:rPr>
              <a:t>Def</a:t>
            </a:r>
            <a:r>
              <a:rPr b="1" lang="en" sz="1200">
                <a:solidFill>
                  <a:schemeClr val="lt1"/>
                </a:solidFill>
                <a:latin typeface="Work Sans"/>
                <a:ea typeface="Work Sans"/>
                <a:cs typeface="Work Sans"/>
                <a:sym typeface="Work Sans"/>
              </a:rPr>
              <a:t>:</a:t>
            </a:r>
            <a:r>
              <a:rPr lang="en" sz="1200">
                <a:solidFill>
                  <a:schemeClr val="lt1"/>
                </a:solidFill>
                <a:latin typeface="Work Sans"/>
                <a:ea typeface="Work Sans"/>
                <a:cs typeface="Work Sans"/>
                <a:sym typeface="Work Sans"/>
              </a:rPr>
              <a:t> A measure of how many species of birds are observed in a specific area.</a:t>
            </a:r>
            <a:br>
              <a:rPr lang="en" sz="1200">
                <a:solidFill>
                  <a:schemeClr val="lt1"/>
                </a:solidFill>
                <a:latin typeface="Work Sans"/>
                <a:ea typeface="Work Sans"/>
                <a:cs typeface="Work Sans"/>
                <a:sym typeface="Work Sans"/>
              </a:rPr>
            </a:br>
            <a:endParaRPr sz="1200">
              <a:solidFill>
                <a:schemeClr val="lt1"/>
              </a:solidFill>
              <a:latin typeface="Work Sans"/>
              <a:ea typeface="Work Sans"/>
              <a:cs typeface="Work Sans"/>
              <a:sym typeface="Work Sans"/>
            </a:endParaRPr>
          </a:p>
          <a:p>
            <a:pPr indent="0" lvl="0" marL="0" rtl="0" algn="l">
              <a:lnSpc>
                <a:spcPct val="115000"/>
              </a:lnSpc>
              <a:spcBef>
                <a:spcPts val="1200"/>
              </a:spcBef>
              <a:spcAft>
                <a:spcPts val="1200"/>
              </a:spcAft>
              <a:buNone/>
            </a:pPr>
            <a:r>
              <a:rPr b="1" lang="en" sz="1200">
                <a:solidFill>
                  <a:schemeClr val="lt1"/>
                </a:solidFill>
                <a:latin typeface="Beth Ellen"/>
                <a:ea typeface="Beth Ellen"/>
                <a:cs typeface="Beth Ellen"/>
                <a:sym typeface="Beth Ellen"/>
              </a:rPr>
              <a:t>Implication</a:t>
            </a:r>
            <a:r>
              <a:rPr b="1" lang="en" sz="1200">
                <a:solidFill>
                  <a:schemeClr val="lt1"/>
                </a:solidFill>
                <a:latin typeface="Work Sans"/>
                <a:ea typeface="Work Sans"/>
                <a:cs typeface="Work Sans"/>
                <a:sym typeface="Work Sans"/>
              </a:rPr>
              <a:t>:</a:t>
            </a:r>
            <a:r>
              <a:rPr lang="en" sz="1200">
                <a:solidFill>
                  <a:schemeClr val="lt1"/>
                </a:solidFill>
                <a:latin typeface="Work Sans"/>
                <a:ea typeface="Work Sans"/>
                <a:cs typeface="Work Sans"/>
                <a:sym typeface="Work Sans"/>
              </a:rPr>
              <a:t> High species density indicates areas where number of species are abundant, helping identify core habitats and biodiversified region.</a:t>
            </a:r>
            <a:endParaRPr sz="1200">
              <a:solidFill>
                <a:schemeClr val="lt1"/>
              </a:solidFill>
              <a:latin typeface="Work Sans"/>
              <a:ea typeface="Work Sans"/>
              <a:cs typeface="Work Sans"/>
              <a:sym typeface="Work Sans"/>
            </a:endParaRPr>
          </a:p>
        </p:txBody>
      </p:sp>
      <p:sp>
        <p:nvSpPr>
          <p:cNvPr id="351" name="Google Shape;351;p36"/>
          <p:cNvSpPr/>
          <p:nvPr/>
        </p:nvSpPr>
        <p:spPr>
          <a:xfrm>
            <a:off x="5684977" y="4443068"/>
            <a:ext cx="447124" cy="211825"/>
          </a:xfrm>
          <a:custGeom>
            <a:rect b="b" l="l" r="r" t="t"/>
            <a:pathLst>
              <a:path extrusionOk="0" h="423650" w="894247">
                <a:moveTo>
                  <a:pt x="0" y="0"/>
                </a:moveTo>
                <a:lnTo>
                  <a:pt x="894247" y="0"/>
                </a:lnTo>
                <a:lnTo>
                  <a:pt x="894247" y="423650"/>
                </a:lnTo>
                <a:lnTo>
                  <a:pt x="0" y="423650"/>
                </a:lnTo>
                <a:lnTo>
                  <a:pt x="0" y="0"/>
                </a:lnTo>
                <a:close/>
              </a:path>
            </a:pathLst>
          </a:custGeom>
          <a:blipFill rotWithShape="1">
            <a:blip r:embed="rId5">
              <a:alphaModFix/>
            </a:blip>
            <a:stretch>
              <a:fillRect b="0" l="0" r="0" t="0"/>
            </a:stretch>
          </a:blipFill>
          <a:ln>
            <a:noFill/>
          </a:ln>
        </p:spPr>
      </p:sp>
      <p:sp>
        <p:nvSpPr>
          <p:cNvPr id="352" name="Google Shape;352;p36"/>
          <p:cNvSpPr txBox="1"/>
          <p:nvPr/>
        </p:nvSpPr>
        <p:spPr>
          <a:xfrm>
            <a:off x="1619964" y="308003"/>
            <a:ext cx="5729700" cy="501000"/>
          </a:xfrm>
          <a:prstGeom prst="rect">
            <a:avLst/>
          </a:prstGeom>
          <a:noFill/>
          <a:ln>
            <a:noFill/>
          </a:ln>
        </p:spPr>
        <p:txBody>
          <a:bodyPr anchorCtr="0" anchor="t" bIns="0" lIns="0" spcFirstLastPara="1" rIns="0" wrap="square" tIns="0">
            <a:spAutoFit/>
          </a:bodyPr>
          <a:lstStyle/>
          <a:p>
            <a:pPr indent="0" lvl="0" marL="0" marR="0" rtl="0" algn="l">
              <a:lnSpc>
                <a:spcPct val="93001"/>
              </a:lnSpc>
              <a:spcBef>
                <a:spcPts val="0"/>
              </a:spcBef>
              <a:spcAft>
                <a:spcPts val="0"/>
              </a:spcAft>
              <a:buNone/>
            </a:pPr>
            <a:r>
              <a:rPr lang="en" sz="3500">
                <a:solidFill>
                  <a:srgbClr val="555C05"/>
                </a:solidFill>
                <a:latin typeface="League Gothic"/>
                <a:ea typeface="League Gothic"/>
                <a:cs typeface="League Gothic"/>
                <a:sym typeface="League Gothic"/>
              </a:rPr>
              <a:t>Analysis II: Species Distribution vs. Biodiversity</a:t>
            </a:r>
            <a:endParaRPr sz="3500">
              <a:solidFill>
                <a:srgbClr val="555C05"/>
              </a:solidFill>
            </a:endParaRPr>
          </a:p>
        </p:txBody>
      </p:sp>
      <p:sp>
        <p:nvSpPr>
          <p:cNvPr id="353" name="Google Shape;353;p36"/>
          <p:cNvSpPr txBox="1"/>
          <p:nvPr/>
        </p:nvSpPr>
        <p:spPr>
          <a:xfrm>
            <a:off x="1619975" y="903350"/>
            <a:ext cx="5626800" cy="2507700"/>
          </a:xfrm>
          <a:prstGeom prst="rect">
            <a:avLst/>
          </a:prstGeom>
          <a:solidFill>
            <a:schemeClr val="lt2"/>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sz="1500">
                <a:solidFill>
                  <a:srgbClr val="535B29"/>
                </a:solidFill>
                <a:latin typeface="Beth Ellen"/>
                <a:ea typeface="Beth Ellen"/>
                <a:cs typeface="Beth Ellen"/>
                <a:sym typeface="Beth Ellen"/>
              </a:rPr>
              <a:t>Conclusion</a:t>
            </a:r>
            <a:r>
              <a:rPr b="1" lang="en" sz="1500">
                <a:solidFill>
                  <a:srgbClr val="535B29"/>
                </a:solidFill>
                <a:latin typeface="Work Sans"/>
                <a:ea typeface="Work Sans"/>
                <a:cs typeface="Work Sans"/>
                <a:sym typeface="Work Sans"/>
              </a:rPr>
              <a:t>: </a:t>
            </a:r>
            <a:r>
              <a:rPr lang="en" sz="1500">
                <a:solidFill>
                  <a:srgbClr val="535B29"/>
                </a:solidFill>
                <a:latin typeface="Work Sans"/>
                <a:ea typeface="Work Sans"/>
                <a:cs typeface="Work Sans"/>
                <a:sym typeface="Work Sans"/>
              </a:rPr>
              <a:t>The Orange-crowned Warbler’s highest concentrations are in California, Texas, and the East Coast, only partially matching areas of high species density. This suggests that not all individuals of this species prefer highly biodiverse habitats, indicating that protection or observation efforts may be more effective in more diverse regions and under different weather conditions. It also suggests the need for more diverse conservation methods.</a:t>
            </a:r>
            <a:endParaRPr sz="15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4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5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5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57" name="Shape 357"/>
        <p:cNvGrpSpPr/>
        <p:nvPr/>
      </p:nvGrpSpPr>
      <p:grpSpPr>
        <a:xfrm>
          <a:off x="0" y="0"/>
          <a:ext cx="0" cy="0"/>
          <a:chOff x="0" y="0"/>
          <a:chExt cx="0" cy="0"/>
        </a:xfrm>
      </p:grpSpPr>
      <p:grpSp>
        <p:nvGrpSpPr>
          <p:cNvPr id="358" name="Google Shape;358;p37"/>
          <p:cNvGrpSpPr/>
          <p:nvPr/>
        </p:nvGrpSpPr>
        <p:grpSpPr>
          <a:xfrm>
            <a:off x="0" y="1973365"/>
            <a:ext cx="1770188" cy="3170135"/>
            <a:chOff x="0" y="-47625"/>
            <a:chExt cx="932445" cy="1669865"/>
          </a:xfrm>
        </p:grpSpPr>
        <p:sp>
          <p:nvSpPr>
            <p:cNvPr id="359" name="Google Shape;359;p37"/>
            <p:cNvSpPr/>
            <p:nvPr/>
          </p:nvSpPr>
          <p:spPr>
            <a:xfrm>
              <a:off x="0" y="0"/>
              <a:ext cx="932445" cy="1622240"/>
            </a:xfrm>
            <a:custGeom>
              <a:rect b="b" l="l" r="r" t="t"/>
              <a:pathLst>
                <a:path extrusionOk="0" h="1622240" w="932445">
                  <a:moveTo>
                    <a:pt x="0" y="0"/>
                  </a:moveTo>
                  <a:lnTo>
                    <a:pt x="932445" y="0"/>
                  </a:lnTo>
                  <a:lnTo>
                    <a:pt x="932445" y="1622240"/>
                  </a:lnTo>
                  <a:lnTo>
                    <a:pt x="0" y="1622240"/>
                  </a:lnTo>
                  <a:close/>
                </a:path>
              </a:pathLst>
            </a:custGeom>
            <a:solidFill>
              <a:srgbClr val="535B29"/>
            </a:solidFill>
            <a:ln>
              <a:noFill/>
            </a:ln>
          </p:spPr>
        </p:sp>
        <p:sp>
          <p:nvSpPr>
            <p:cNvPr id="360" name="Google Shape;360;p37"/>
            <p:cNvSpPr txBox="1"/>
            <p:nvPr/>
          </p:nvSpPr>
          <p:spPr>
            <a:xfrm>
              <a:off x="0" y="-47625"/>
              <a:ext cx="932445" cy="1669865"/>
            </a:xfrm>
            <a:prstGeom prst="rect">
              <a:avLst/>
            </a:prstGeom>
            <a:noFill/>
            <a:ln>
              <a:noFill/>
            </a:ln>
          </p:spPr>
          <p:txBody>
            <a:bodyPr anchorCtr="0" anchor="ctr" bIns="25400" lIns="25400" spcFirstLastPara="1" rIns="25400" wrap="square" tIns="254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pic>
        <p:nvPicPr>
          <p:cNvPr id="361" name="Google Shape;361;p37"/>
          <p:cNvPicPr preferRelativeResize="0"/>
          <p:nvPr/>
        </p:nvPicPr>
        <p:blipFill>
          <a:blip r:embed="rId3">
            <a:alphaModFix/>
          </a:blip>
          <a:stretch>
            <a:fillRect/>
          </a:stretch>
        </p:blipFill>
        <p:spPr>
          <a:xfrm>
            <a:off x="478375" y="790364"/>
            <a:ext cx="2547650" cy="3821492"/>
          </a:xfrm>
          <a:prstGeom prst="rect">
            <a:avLst/>
          </a:prstGeom>
          <a:noFill/>
          <a:ln>
            <a:noFill/>
          </a:ln>
        </p:spPr>
      </p:pic>
      <p:grpSp>
        <p:nvGrpSpPr>
          <p:cNvPr id="362" name="Google Shape;362;p37"/>
          <p:cNvGrpSpPr/>
          <p:nvPr/>
        </p:nvGrpSpPr>
        <p:grpSpPr>
          <a:xfrm>
            <a:off x="2492297" y="1435881"/>
            <a:ext cx="2547653" cy="2530479"/>
            <a:chOff x="0" y="-47625"/>
            <a:chExt cx="1372584" cy="1363331"/>
          </a:xfrm>
        </p:grpSpPr>
        <p:sp>
          <p:nvSpPr>
            <p:cNvPr id="363" name="Google Shape;363;p37"/>
            <p:cNvSpPr/>
            <p:nvPr/>
          </p:nvSpPr>
          <p:spPr>
            <a:xfrm>
              <a:off x="0" y="0"/>
              <a:ext cx="1372584" cy="1315706"/>
            </a:xfrm>
            <a:custGeom>
              <a:rect b="b" l="l" r="r" t="t"/>
              <a:pathLst>
                <a:path extrusionOk="0" h="1315706" w="1372584">
                  <a:moveTo>
                    <a:pt x="0" y="0"/>
                  </a:moveTo>
                  <a:lnTo>
                    <a:pt x="1372584" y="0"/>
                  </a:lnTo>
                  <a:lnTo>
                    <a:pt x="1372584" y="1315706"/>
                  </a:lnTo>
                  <a:lnTo>
                    <a:pt x="0" y="1315706"/>
                  </a:lnTo>
                  <a:close/>
                </a:path>
              </a:pathLst>
            </a:custGeom>
            <a:solidFill>
              <a:srgbClr val="FFFFFF"/>
            </a:solidFill>
            <a:ln cap="sq" cmpd="sng" w="19050">
              <a:solidFill>
                <a:srgbClr val="535B29"/>
              </a:solidFill>
              <a:prstDash val="solid"/>
              <a:miter lim="8000"/>
              <a:headEnd len="sm" w="sm" type="none"/>
              <a:tailEnd len="sm" w="sm" type="none"/>
            </a:ln>
          </p:spPr>
        </p:sp>
        <p:sp>
          <p:nvSpPr>
            <p:cNvPr id="364" name="Google Shape;364;p37"/>
            <p:cNvSpPr txBox="1"/>
            <p:nvPr/>
          </p:nvSpPr>
          <p:spPr>
            <a:xfrm>
              <a:off x="0" y="-47625"/>
              <a:ext cx="1372584" cy="1363331"/>
            </a:xfrm>
            <a:prstGeom prst="rect">
              <a:avLst/>
            </a:prstGeom>
            <a:noFill/>
            <a:ln>
              <a:noFill/>
            </a:ln>
          </p:spPr>
          <p:txBody>
            <a:bodyPr anchorCtr="0" anchor="ctr" bIns="24825" lIns="24825" spcFirstLastPara="1" rIns="24825" wrap="square" tIns="24825">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65" name="Google Shape;365;p37"/>
          <p:cNvGrpSpPr/>
          <p:nvPr/>
        </p:nvGrpSpPr>
        <p:grpSpPr>
          <a:xfrm>
            <a:off x="3026026" y="-90413"/>
            <a:ext cx="214372" cy="5233913"/>
            <a:chOff x="0" y="-47625"/>
            <a:chExt cx="112921" cy="2756958"/>
          </a:xfrm>
        </p:grpSpPr>
        <p:sp>
          <p:nvSpPr>
            <p:cNvPr id="366" name="Google Shape;366;p37"/>
            <p:cNvSpPr/>
            <p:nvPr/>
          </p:nvSpPr>
          <p:spPr>
            <a:xfrm>
              <a:off x="0" y="0"/>
              <a:ext cx="112921" cy="2709333"/>
            </a:xfrm>
            <a:custGeom>
              <a:rect b="b" l="l" r="r" t="t"/>
              <a:pathLst>
                <a:path extrusionOk="0" h="2709333" w="112921">
                  <a:moveTo>
                    <a:pt x="0" y="0"/>
                  </a:moveTo>
                  <a:lnTo>
                    <a:pt x="112921" y="0"/>
                  </a:lnTo>
                  <a:lnTo>
                    <a:pt x="112921" y="2709333"/>
                  </a:lnTo>
                  <a:lnTo>
                    <a:pt x="0" y="2709333"/>
                  </a:lnTo>
                  <a:close/>
                </a:path>
              </a:pathLst>
            </a:custGeom>
            <a:solidFill>
              <a:srgbClr val="535B29"/>
            </a:solidFill>
            <a:ln>
              <a:noFill/>
            </a:ln>
          </p:spPr>
        </p:sp>
        <p:sp>
          <p:nvSpPr>
            <p:cNvPr id="367" name="Google Shape;367;p37"/>
            <p:cNvSpPr txBox="1"/>
            <p:nvPr/>
          </p:nvSpPr>
          <p:spPr>
            <a:xfrm>
              <a:off x="0" y="-47625"/>
              <a:ext cx="112921" cy="2756958"/>
            </a:xfrm>
            <a:prstGeom prst="rect">
              <a:avLst/>
            </a:prstGeom>
            <a:noFill/>
            <a:ln>
              <a:noFill/>
            </a:ln>
          </p:spPr>
          <p:txBody>
            <a:bodyPr anchorCtr="0" anchor="ctr" bIns="25400" lIns="25400" spcFirstLastPara="1" rIns="25400" wrap="square" tIns="25400">
              <a:noAutofit/>
            </a:bodyPr>
            <a:lstStyle/>
            <a:p>
              <a:pPr indent="0" lvl="0" marL="0" marR="0" rtl="0" algn="ctr">
                <a:lnSpc>
                  <a:spcPct val="116666"/>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68" name="Google Shape;368;p37"/>
          <p:cNvSpPr/>
          <p:nvPr/>
        </p:nvSpPr>
        <p:spPr>
          <a:xfrm>
            <a:off x="2650507" y="1668154"/>
            <a:ext cx="2230973" cy="2154076"/>
          </a:xfrm>
          <a:custGeom>
            <a:rect b="b" l="l" r="r" t="t"/>
            <a:pathLst>
              <a:path extrusionOk="0" h="682750" w="707123">
                <a:moveTo>
                  <a:pt x="0" y="0"/>
                </a:moveTo>
                <a:lnTo>
                  <a:pt x="707123" y="0"/>
                </a:lnTo>
                <a:lnTo>
                  <a:pt x="707123" y="682750"/>
                </a:lnTo>
                <a:lnTo>
                  <a:pt x="0" y="682750"/>
                </a:lnTo>
                <a:close/>
              </a:path>
            </a:pathLst>
          </a:custGeom>
          <a:blipFill rotWithShape="1">
            <a:blip r:embed="rId4">
              <a:alphaModFix/>
            </a:blip>
            <a:stretch>
              <a:fillRect b="-10227" l="-35034" r="-38721" t="-9852"/>
            </a:stretch>
          </a:blipFill>
          <a:ln>
            <a:noFill/>
          </a:ln>
        </p:spPr>
      </p:sp>
      <p:sp>
        <p:nvSpPr>
          <p:cNvPr id="369" name="Google Shape;369;p37"/>
          <p:cNvSpPr txBox="1"/>
          <p:nvPr/>
        </p:nvSpPr>
        <p:spPr>
          <a:xfrm>
            <a:off x="5527001" y="734774"/>
            <a:ext cx="3102600" cy="9144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lang="en" sz="2700">
                <a:solidFill>
                  <a:srgbClr val="535B29"/>
                </a:solidFill>
                <a:latin typeface="Inter"/>
                <a:ea typeface="Inter"/>
                <a:cs typeface="Inter"/>
                <a:sym typeface="Inter"/>
              </a:rPr>
              <a:t>  </a:t>
            </a:r>
            <a:r>
              <a:rPr b="1" i="0" lang="en" sz="2700" u="none" cap="none" strike="noStrike">
                <a:solidFill>
                  <a:srgbClr val="535B29"/>
                </a:solidFill>
                <a:latin typeface="Inter"/>
                <a:ea typeface="Inter"/>
                <a:cs typeface="Inter"/>
                <a:sym typeface="Inter"/>
              </a:rPr>
              <a:t>Roadmap Ahead</a:t>
            </a:r>
            <a:endParaRPr b="1" i="0" sz="2700" u="none" cap="none" strike="noStrike">
              <a:solidFill>
                <a:srgbClr val="535B29"/>
              </a:solidFill>
              <a:latin typeface="Inter"/>
              <a:ea typeface="Inter"/>
              <a:cs typeface="Inter"/>
              <a:sym typeface="Inter"/>
            </a:endParaRPr>
          </a:p>
          <a:p>
            <a:pPr indent="0" lvl="0" marL="0" marR="0" rtl="0" algn="l">
              <a:lnSpc>
                <a:spcPct val="120003"/>
              </a:lnSpc>
              <a:spcBef>
                <a:spcPts val="0"/>
              </a:spcBef>
              <a:spcAft>
                <a:spcPts val="0"/>
              </a:spcAft>
              <a:buNone/>
            </a:pPr>
            <a:r>
              <a:t/>
            </a:r>
            <a:endParaRPr b="1" sz="2700">
              <a:solidFill>
                <a:srgbClr val="535B29"/>
              </a:solidFill>
              <a:latin typeface="Inter"/>
              <a:ea typeface="Inter"/>
              <a:cs typeface="Inter"/>
              <a:sym typeface="Inter"/>
            </a:endParaRPr>
          </a:p>
        </p:txBody>
      </p:sp>
      <p:sp>
        <p:nvSpPr>
          <p:cNvPr id="370" name="Google Shape;370;p37"/>
          <p:cNvSpPr txBox="1"/>
          <p:nvPr/>
        </p:nvSpPr>
        <p:spPr>
          <a:xfrm>
            <a:off x="5667675" y="1299525"/>
            <a:ext cx="2961900" cy="4728900"/>
          </a:xfrm>
          <a:prstGeom prst="rect">
            <a:avLst/>
          </a:prstGeom>
          <a:noFill/>
          <a:ln>
            <a:noFill/>
          </a:ln>
        </p:spPr>
        <p:txBody>
          <a:bodyPr anchorCtr="0" anchor="t" bIns="0" lIns="0" spcFirstLastPara="1" rIns="0" wrap="square" tIns="0">
            <a:spAutoFit/>
          </a:bodyPr>
          <a:lstStyle/>
          <a:p>
            <a:pPr indent="-317500" lvl="0" marL="457200" marR="0" rtl="0" algn="l">
              <a:lnSpc>
                <a:spcPct val="139916"/>
              </a:lnSpc>
              <a:spcBef>
                <a:spcPts val="0"/>
              </a:spcBef>
              <a:spcAft>
                <a:spcPts val="0"/>
              </a:spcAft>
              <a:buSzPts val="1400"/>
              <a:buFont typeface="Work Sans"/>
              <a:buChar char="●"/>
            </a:pPr>
            <a:r>
              <a:rPr i="1" lang="en" sz="1600">
                <a:latin typeface="Work Sans"/>
                <a:ea typeface="Work Sans"/>
                <a:cs typeface="Work Sans"/>
                <a:sym typeface="Work Sans"/>
              </a:rPr>
              <a:t>P</a:t>
            </a:r>
            <a:r>
              <a:rPr i="1" lang="en" sz="1700">
                <a:latin typeface="Work Sans"/>
                <a:ea typeface="Work Sans"/>
                <a:cs typeface="Work Sans"/>
                <a:sym typeface="Work Sans"/>
              </a:rPr>
              <a:t>hase 1: Enhancing prediction accuracy by incorporating weather and seasonal factors</a:t>
            </a:r>
            <a:endParaRPr i="1" sz="1700">
              <a:latin typeface="Work Sans"/>
              <a:ea typeface="Work Sans"/>
              <a:cs typeface="Work Sans"/>
              <a:sym typeface="Work Sans"/>
            </a:endParaRPr>
          </a:p>
          <a:p>
            <a:pPr indent="-336550" lvl="0" marL="457200" marR="0" rtl="0" algn="l">
              <a:lnSpc>
                <a:spcPct val="139916"/>
              </a:lnSpc>
              <a:spcBef>
                <a:spcPts val="0"/>
              </a:spcBef>
              <a:spcAft>
                <a:spcPts val="0"/>
              </a:spcAft>
              <a:buSzPts val="1700"/>
              <a:buFont typeface="Work Sans"/>
              <a:buChar char="●"/>
            </a:pPr>
            <a:r>
              <a:rPr i="1" lang="en" sz="1700">
                <a:latin typeface="Work Sans"/>
                <a:ea typeface="Work Sans"/>
                <a:cs typeface="Work Sans"/>
                <a:sym typeface="Work Sans"/>
              </a:rPr>
              <a:t>Phase 2: Building a mobile-friendly interface for greater convenience</a:t>
            </a:r>
            <a:endParaRPr i="1" sz="1700">
              <a:latin typeface="Work Sans"/>
              <a:ea typeface="Work Sans"/>
              <a:cs typeface="Work Sans"/>
              <a:sym typeface="Work Sans"/>
            </a:endParaRPr>
          </a:p>
          <a:p>
            <a:pPr indent="-336550" lvl="0" marL="457200" marR="0" rtl="0" algn="l">
              <a:lnSpc>
                <a:spcPct val="139916"/>
              </a:lnSpc>
              <a:spcBef>
                <a:spcPts val="0"/>
              </a:spcBef>
              <a:spcAft>
                <a:spcPts val="0"/>
              </a:spcAft>
              <a:buSzPts val="1700"/>
              <a:buFont typeface="Work Sans"/>
              <a:buChar char="●"/>
            </a:pPr>
            <a:r>
              <a:rPr i="1" lang="en" sz="1700">
                <a:latin typeface="Work Sans"/>
                <a:ea typeface="Work Sans"/>
                <a:cs typeface="Work Sans"/>
                <a:sym typeface="Work Sans"/>
              </a:rPr>
              <a:t>Phase 3: Supporting conservation groups</a:t>
            </a:r>
            <a:endParaRPr i="1" sz="1700">
              <a:latin typeface="Work Sans"/>
              <a:ea typeface="Work Sans"/>
              <a:cs typeface="Work Sans"/>
              <a:sym typeface="Work Sans"/>
            </a:endParaRPr>
          </a:p>
          <a:p>
            <a:pPr indent="0" lvl="0" marL="0" marR="0" rtl="0" algn="l">
              <a:lnSpc>
                <a:spcPct val="139916"/>
              </a:lnSpc>
              <a:spcBef>
                <a:spcPts val="0"/>
              </a:spcBef>
              <a:spcAft>
                <a:spcPts val="0"/>
              </a:spcAft>
              <a:buNone/>
            </a:pPr>
            <a:r>
              <a:t/>
            </a:r>
            <a:endParaRPr i="1" sz="1700">
              <a:latin typeface="Work Sans"/>
              <a:ea typeface="Work Sans"/>
              <a:cs typeface="Work Sans"/>
              <a:sym typeface="Work Sans"/>
            </a:endParaRPr>
          </a:p>
          <a:p>
            <a:pPr indent="0" lvl="0" marL="0" marR="0" rtl="0" algn="l">
              <a:lnSpc>
                <a:spcPct val="139916"/>
              </a:lnSpc>
              <a:spcBef>
                <a:spcPts val="0"/>
              </a:spcBef>
              <a:spcAft>
                <a:spcPts val="0"/>
              </a:spcAft>
              <a:buNone/>
            </a:pPr>
            <a:r>
              <a:t/>
            </a:r>
            <a:endParaRPr i="1" sz="1200">
              <a:latin typeface="Work Sans"/>
              <a:ea typeface="Work Sans"/>
              <a:cs typeface="Work Sans"/>
              <a:sym typeface="Work Sans"/>
            </a:endParaRPr>
          </a:p>
          <a:p>
            <a:pPr indent="0" lvl="0" marL="0" marR="0" rtl="0" algn="l">
              <a:lnSpc>
                <a:spcPct val="139916"/>
              </a:lnSpc>
              <a:spcBef>
                <a:spcPts val="0"/>
              </a:spcBef>
              <a:spcAft>
                <a:spcPts val="0"/>
              </a:spcAft>
              <a:buNone/>
            </a:pPr>
            <a:r>
              <a:t/>
            </a:r>
            <a:endParaRPr i="1" sz="1200">
              <a:latin typeface="Work Sans"/>
              <a:ea typeface="Work Sans"/>
              <a:cs typeface="Work Sans"/>
              <a:sym typeface="Work Sans"/>
            </a:endParaRPr>
          </a:p>
          <a:p>
            <a:pPr indent="0" lvl="0" marL="0" marR="0" rtl="0" algn="l">
              <a:lnSpc>
                <a:spcPct val="139916"/>
              </a:lnSpc>
              <a:spcBef>
                <a:spcPts val="0"/>
              </a:spcBef>
              <a:spcAft>
                <a:spcPts val="0"/>
              </a:spcAft>
              <a:buNone/>
            </a:pPr>
            <a:r>
              <a:t/>
            </a:r>
            <a:endParaRPr i="1" sz="1200">
              <a:latin typeface="Work Sans"/>
              <a:ea typeface="Work Sans"/>
              <a:cs typeface="Work Sans"/>
              <a:sym typeface="Work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grpSp>
        <p:nvGrpSpPr>
          <p:cNvPr id="375" name="Google Shape;375;p38"/>
          <p:cNvGrpSpPr/>
          <p:nvPr/>
        </p:nvGrpSpPr>
        <p:grpSpPr>
          <a:xfrm>
            <a:off x="-1295348" y="2039050"/>
            <a:ext cx="12506764" cy="1021413"/>
            <a:chOff x="0" y="-47625"/>
            <a:chExt cx="13541214" cy="1105896"/>
          </a:xfrm>
        </p:grpSpPr>
        <p:sp>
          <p:nvSpPr>
            <p:cNvPr id="376" name="Google Shape;376;p38"/>
            <p:cNvSpPr/>
            <p:nvPr/>
          </p:nvSpPr>
          <p:spPr>
            <a:xfrm>
              <a:off x="0" y="0"/>
              <a:ext cx="13541214" cy="1058271"/>
            </a:xfrm>
            <a:custGeom>
              <a:rect b="b" l="l" r="r" t="t"/>
              <a:pathLst>
                <a:path extrusionOk="0" h="1058271" w="13541214">
                  <a:moveTo>
                    <a:pt x="0" y="0"/>
                  </a:moveTo>
                  <a:lnTo>
                    <a:pt x="13541214" y="0"/>
                  </a:lnTo>
                  <a:lnTo>
                    <a:pt x="13541214" y="1058271"/>
                  </a:lnTo>
                  <a:lnTo>
                    <a:pt x="0" y="1058271"/>
                  </a:lnTo>
                  <a:close/>
                </a:path>
              </a:pathLst>
            </a:custGeom>
            <a:solidFill>
              <a:srgbClr val="97A217"/>
            </a:solidFill>
            <a:ln>
              <a:noFill/>
            </a:ln>
          </p:spPr>
        </p:sp>
        <p:sp>
          <p:nvSpPr>
            <p:cNvPr id="377" name="Google Shape;377;p38"/>
            <p:cNvSpPr txBox="1"/>
            <p:nvPr/>
          </p:nvSpPr>
          <p:spPr>
            <a:xfrm>
              <a:off x="0" y="-47625"/>
              <a:ext cx="13541214" cy="1105896"/>
            </a:xfrm>
            <a:prstGeom prst="rect">
              <a:avLst/>
            </a:prstGeom>
            <a:noFill/>
            <a:ln>
              <a:noFill/>
            </a:ln>
          </p:spPr>
          <p:txBody>
            <a:bodyPr anchorCtr="0" anchor="ctr" bIns="25400" lIns="25400" spcFirstLastPara="1" rIns="25400" wrap="square" tIns="25400">
              <a:noAutofit/>
            </a:bodyPr>
            <a:lstStyle/>
            <a:p>
              <a:pPr indent="0" lvl="0" marL="0" marR="0" rtl="0" algn="ctr">
                <a:lnSpc>
                  <a:spcPct val="1578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78" name="Google Shape;378;p38"/>
          <p:cNvGrpSpPr/>
          <p:nvPr/>
        </p:nvGrpSpPr>
        <p:grpSpPr>
          <a:xfrm>
            <a:off x="1735875" y="1440300"/>
            <a:ext cx="5255895" cy="2102358"/>
            <a:chOff x="0" y="0"/>
            <a:chExt cx="6350000" cy="2540000"/>
          </a:xfrm>
        </p:grpSpPr>
        <p:sp>
          <p:nvSpPr>
            <p:cNvPr id="379" name="Google Shape;379;p38"/>
            <p:cNvSpPr/>
            <p:nvPr/>
          </p:nvSpPr>
          <p:spPr>
            <a:xfrm>
              <a:off x="0" y="0"/>
              <a:ext cx="6350000" cy="2540000"/>
            </a:xfrm>
            <a:custGeom>
              <a:rect b="b" l="l" r="r" t="t"/>
              <a:pathLst>
                <a:path extrusionOk="0" h="2540000" w="6350000">
                  <a:moveTo>
                    <a:pt x="0" y="1270000"/>
                  </a:moveTo>
                  <a:lnTo>
                    <a:pt x="0" y="1270000"/>
                  </a:lnTo>
                  <a:cubicBezTo>
                    <a:pt x="0" y="568960"/>
                    <a:pt x="568960" y="0"/>
                    <a:pt x="1270000" y="0"/>
                  </a:cubicBezTo>
                  <a:lnTo>
                    <a:pt x="5080000" y="0"/>
                  </a:lnTo>
                  <a:cubicBezTo>
                    <a:pt x="5781040" y="0"/>
                    <a:pt x="6350000" y="568960"/>
                    <a:pt x="6350000" y="1270000"/>
                  </a:cubicBezTo>
                  <a:lnTo>
                    <a:pt x="6350000" y="1270000"/>
                  </a:lnTo>
                  <a:cubicBezTo>
                    <a:pt x="6350000" y="1971040"/>
                    <a:pt x="5781040" y="2540000"/>
                    <a:pt x="5080000" y="2540000"/>
                  </a:cubicBezTo>
                  <a:lnTo>
                    <a:pt x="1270000" y="2540000"/>
                  </a:lnTo>
                  <a:cubicBezTo>
                    <a:pt x="568960" y="2540000"/>
                    <a:pt x="0" y="1971040"/>
                    <a:pt x="0" y="1270000"/>
                  </a:cubicBezTo>
                  <a:close/>
                </a:path>
              </a:pathLst>
            </a:custGeom>
            <a:blipFill rotWithShape="1">
              <a:blip r:embed="rId3">
                <a:alphaModFix/>
              </a:blip>
              <a:stretch>
                <a:fillRect b="-33280" l="0" r="0" t="-33278"/>
              </a:stretch>
            </a:blipFill>
            <a:ln>
              <a:noFill/>
            </a:ln>
          </p:spPr>
          <p:txBody>
            <a:bodyPr anchorCtr="0" anchor="ctr" bIns="38100" lIns="38100" spcFirstLastPara="1" rIns="38100" wrap="square" tIns="38100">
              <a:noAutofit/>
            </a:bodyPr>
            <a:lstStyle/>
            <a:p>
              <a:pPr indent="0" lvl="0" marL="0" rtl="0" algn="l">
                <a:spcBef>
                  <a:spcPts val="0"/>
                </a:spcBef>
                <a:spcAft>
                  <a:spcPts val="0"/>
                </a:spcAft>
                <a:buNone/>
              </a:pPr>
              <a:r>
                <a:t/>
              </a:r>
              <a:endParaRPr/>
            </a:p>
          </p:txBody>
        </p:sp>
        <p:sp>
          <p:nvSpPr>
            <p:cNvPr id="380" name="Google Shape;380;p38"/>
            <p:cNvSpPr/>
            <p:nvPr/>
          </p:nvSpPr>
          <p:spPr>
            <a:xfrm>
              <a:off x="0" y="0"/>
              <a:ext cx="6350000" cy="2540000"/>
            </a:xfrm>
            <a:custGeom>
              <a:rect b="b" l="l" r="r" t="t"/>
              <a:pathLst>
                <a:path extrusionOk="0" h="2540000" w="6350000">
                  <a:moveTo>
                    <a:pt x="5080000" y="19050"/>
                  </a:moveTo>
                  <a:cubicBezTo>
                    <a:pt x="5769610" y="19050"/>
                    <a:pt x="6330950" y="580390"/>
                    <a:pt x="6330950" y="1270000"/>
                  </a:cubicBezTo>
                  <a:cubicBezTo>
                    <a:pt x="6330950" y="1959610"/>
                    <a:pt x="5769610" y="2520950"/>
                    <a:pt x="5080000" y="2520950"/>
                  </a:cubicBezTo>
                  <a:lnTo>
                    <a:pt x="1270000" y="2520950"/>
                  </a:lnTo>
                  <a:cubicBezTo>
                    <a:pt x="580390" y="2520950"/>
                    <a:pt x="19050" y="1959610"/>
                    <a:pt x="19050" y="1270000"/>
                  </a:cubicBezTo>
                  <a:cubicBezTo>
                    <a:pt x="19050" y="580390"/>
                    <a:pt x="580390" y="19050"/>
                    <a:pt x="1270000" y="19050"/>
                  </a:cubicBezTo>
                  <a:lnTo>
                    <a:pt x="5080000" y="19050"/>
                  </a:lnTo>
                  <a:moveTo>
                    <a:pt x="5080000" y="0"/>
                  </a:moveTo>
                  <a:lnTo>
                    <a:pt x="1270000" y="0"/>
                  </a:lnTo>
                  <a:cubicBezTo>
                    <a:pt x="568960" y="0"/>
                    <a:pt x="0" y="568960"/>
                    <a:pt x="0" y="1270000"/>
                  </a:cubicBezTo>
                  <a:cubicBezTo>
                    <a:pt x="0" y="1971040"/>
                    <a:pt x="568960" y="2540000"/>
                    <a:pt x="1270000" y="2540000"/>
                  </a:cubicBezTo>
                  <a:lnTo>
                    <a:pt x="5080000" y="2540000"/>
                  </a:lnTo>
                  <a:cubicBezTo>
                    <a:pt x="5781040" y="2540000"/>
                    <a:pt x="6350000" y="1971040"/>
                    <a:pt x="6350000" y="1270000"/>
                  </a:cubicBezTo>
                  <a:cubicBezTo>
                    <a:pt x="6350000" y="568960"/>
                    <a:pt x="5781040" y="0"/>
                    <a:pt x="5080000" y="0"/>
                  </a:cubicBezTo>
                  <a:lnTo>
                    <a:pt x="5080000" y="0"/>
                  </a:lnTo>
                  <a:close/>
                </a:path>
              </a:pathLst>
            </a:custGeom>
            <a:solidFill>
              <a:srgbClr val="2A2E05"/>
            </a:solidFill>
            <a:ln>
              <a:noFill/>
            </a:ln>
          </p:spPr>
          <p:txBody>
            <a:bodyPr anchorCtr="0" anchor="ctr" bIns="38100" lIns="38100" spcFirstLastPara="1" rIns="38100" wrap="square" tIns="38100">
              <a:noAutofit/>
            </a:bodyPr>
            <a:lstStyle/>
            <a:p>
              <a:pPr indent="0" lvl="0" marL="0" rtl="0" algn="l">
                <a:spcBef>
                  <a:spcPts val="0"/>
                </a:spcBef>
                <a:spcAft>
                  <a:spcPts val="0"/>
                </a:spcAft>
                <a:buNone/>
              </a:pPr>
              <a:r>
                <a:t/>
              </a:r>
              <a:endParaRPr/>
            </a:p>
          </p:txBody>
        </p:sp>
      </p:grpSp>
      <p:sp>
        <p:nvSpPr>
          <p:cNvPr id="381" name="Google Shape;381;p38"/>
          <p:cNvSpPr txBox="1"/>
          <p:nvPr/>
        </p:nvSpPr>
        <p:spPr>
          <a:xfrm>
            <a:off x="3338082" y="664469"/>
            <a:ext cx="2228402" cy="645199"/>
          </a:xfrm>
          <a:prstGeom prst="rect">
            <a:avLst/>
          </a:prstGeom>
          <a:noFill/>
          <a:ln>
            <a:noFill/>
          </a:ln>
        </p:spPr>
        <p:txBody>
          <a:bodyPr anchorCtr="0" anchor="t" bIns="0" lIns="0" spcFirstLastPara="1" rIns="0" wrap="square" tIns="0">
            <a:spAutoFit/>
          </a:bodyPr>
          <a:lstStyle/>
          <a:p>
            <a:pPr indent="0" lvl="0" marL="0" marR="0" rtl="0" algn="ctr">
              <a:lnSpc>
                <a:spcPct val="93001"/>
              </a:lnSpc>
              <a:spcBef>
                <a:spcPts val="0"/>
              </a:spcBef>
              <a:spcAft>
                <a:spcPts val="0"/>
              </a:spcAft>
              <a:buNone/>
            </a:pPr>
            <a:r>
              <a:rPr b="0" i="0" lang="en" sz="5100" u="none" cap="none" strike="noStrike">
                <a:solidFill>
                  <a:srgbClr val="555C05"/>
                </a:solidFill>
                <a:latin typeface="League Gothic"/>
                <a:ea typeface="League Gothic"/>
                <a:cs typeface="League Gothic"/>
                <a:sym typeface="League Gothic"/>
              </a:rPr>
              <a:t>THANK YOU!</a:t>
            </a:r>
            <a:endParaRPr sz="700"/>
          </a:p>
        </p:txBody>
      </p:sp>
      <p:sp>
        <p:nvSpPr>
          <p:cNvPr id="382" name="Google Shape;382;p38"/>
          <p:cNvSpPr txBox="1"/>
          <p:nvPr/>
        </p:nvSpPr>
        <p:spPr>
          <a:xfrm>
            <a:off x="7653528" y="582336"/>
            <a:ext cx="1125600" cy="1077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t/>
            </a:r>
            <a:endParaRPr sz="700"/>
          </a:p>
        </p:txBody>
      </p:sp>
      <p:sp>
        <p:nvSpPr>
          <p:cNvPr id="383" name="Google Shape;383;p38"/>
          <p:cNvSpPr txBox="1"/>
          <p:nvPr/>
        </p:nvSpPr>
        <p:spPr>
          <a:xfrm>
            <a:off x="207957" y="184800"/>
            <a:ext cx="416100" cy="107700"/>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t/>
            </a:r>
            <a:endParaRPr sz="700"/>
          </a:p>
        </p:txBody>
      </p:sp>
      <p:sp>
        <p:nvSpPr>
          <p:cNvPr id="384" name="Google Shape;384;p38"/>
          <p:cNvSpPr txBox="1"/>
          <p:nvPr/>
        </p:nvSpPr>
        <p:spPr>
          <a:xfrm>
            <a:off x="1045035" y="3871452"/>
            <a:ext cx="6814500" cy="973500"/>
          </a:xfrm>
          <a:prstGeom prst="rect">
            <a:avLst/>
          </a:prstGeom>
          <a:noFill/>
          <a:ln>
            <a:noFill/>
          </a:ln>
        </p:spPr>
        <p:txBody>
          <a:bodyPr anchorCtr="0" anchor="t" bIns="0" lIns="0" spcFirstLastPara="1" rIns="0" wrap="square" tIns="0">
            <a:spAutoFit/>
          </a:bodyPr>
          <a:lstStyle/>
          <a:p>
            <a:pPr indent="0" lvl="0" marL="0" rtl="0" algn="just">
              <a:lnSpc>
                <a:spcPct val="115000"/>
              </a:lnSpc>
              <a:spcBef>
                <a:spcPts val="0"/>
              </a:spcBef>
              <a:spcAft>
                <a:spcPts val="0"/>
              </a:spcAft>
              <a:buClr>
                <a:schemeClr val="dk1"/>
              </a:buClr>
              <a:buSzPts val="1100"/>
              <a:buFont typeface="Arial"/>
              <a:buNone/>
            </a:pPr>
            <a:r>
              <a:rPr lang="en" sz="2300">
                <a:solidFill>
                  <a:srgbClr val="555C05"/>
                </a:solidFill>
                <a:latin typeface="League Gothic"/>
                <a:ea typeface="League Gothic"/>
                <a:cs typeface="League Gothic"/>
                <a:sym typeface="League Gothic"/>
              </a:rPr>
              <a:t>                                   </a:t>
            </a:r>
            <a:r>
              <a:rPr lang="en" sz="2300">
                <a:solidFill>
                  <a:srgbClr val="555C05"/>
                </a:solidFill>
                <a:latin typeface="League Gothic"/>
                <a:ea typeface="League Gothic"/>
                <a:cs typeface="League Gothic"/>
                <a:sym typeface="League Gothic"/>
              </a:rPr>
              <a:t>  Feel free to check out our GitHub and try out the demo!</a:t>
            </a:r>
            <a:endParaRPr sz="2300">
              <a:solidFill>
                <a:srgbClr val="555C05"/>
              </a:solidFill>
              <a:latin typeface="League Gothic"/>
              <a:ea typeface="League Gothic"/>
              <a:cs typeface="League Gothic"/>
              <a:sym typeface="League Gothic"/>
            </a:endParaRPr>
          </a:p>
          <a:p>
            <a:pPr indent="0" lvl="0" marL="0" marR="0" rtl="0" algn="ctr">
              <a:lnSpc>
                <a:spcPct val="139984"/>
              </a:lnSpc>
              <a:spcBef>
                <a:spcPts val="0"/>
              </a:spcBef>
              <a:spcAft>
                <a:spcPts val="0"/>
              </a:spcAft>
              <a:buNone/>
            </a:pPr>
            <a:r>
              <a:rPr b="1" lang="en" sz="1700" u="sng">
                <a:solidFill>
                  <a:schemeClr val="hlink"/>
                </a:solidFill>
                <a:hlinkClick r:id="rId4"/>
              </a:rPr>
              <a:t>https://github.com/evelynh037/ebird-data-analysis</a:t>
            </a:r>
            <a:endParaRPr b="1" sz="1700"/>
          </a:p>
          <a:p>
            <a:pPr indent="0" lvl="0" marL="0" marR="0" rtl="0" algn="ctr">
              <a:lnSpc>
                <a:spcPct val="139984"/>
              </a:lnSpc>
              <a:spcBef>
                <a:spcPts val="0"/>
              </a:spcBef>
              <a:spcAft>
                <a:spcPts val="0"/>
              </a:spcAft>
              <a:buNone/>
            </a:pPr>
            <a:r>
              <a:t/>
            </a:r>
            <a:endParaRPr b="1" sz="13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